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24bd649-f218-1ada-ecd2-a043a5dcd5b4}">
          <p14:sldIdLst>
            <p14:sldId id="256"/>
            <p14:sldId id="257"/>
          </p14:sldIdLst>
        </p14:section>
        <p14:section name="Concepts" id="{443552df-c1d1-a733-26e9-5ef24e10082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Running the flow" id="{cbdffb2e-cea1-6dcc-7b02-5fed91e6f446}">
          <p14:sldIdLst>
            <p14:sldId id="264"/>
            <p14:sldId id="265"/>
            <p14:sldId id="266"/>
            <p14:sldId id="267"/>
            <p14:sldId id="268"/>
          </p14:sldIdLst>
        </p14:section>
        <p14:section name="Advanced configuration" id="{17af4edb-3ac3-25fb-8b7d-1d56070f1976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Slurm" id="{1a3af61b-31d1-40fe-8996-dc78a0dc2524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Debugging and tips" id="{0acf76d3-1717-68ed-468a-07bb63ceaf09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session covers dv_flow from a first run to Slurm regressions and debugging. Hands-on exercises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parts. Concepts first, then hands-on usage, advanced configuration, Slurm, and debugging with tips for writing YAML and Jinja.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building blocks: phases and their steps, models, test lists, and the jobs the flow creates.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things to remember. Everything is driven by YAML files that Jinja2 renders first; the same files serve local and Slurm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config is rendered once per job. Build-scope phases make one build job; test-scope phases make one job per testcase and seed. Each step's command is cmd opts args, then test_args, then phase args.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are declared once, in order. Each model gives every phase up to three steps. Only cmd is required; a step without cmd is skipped.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inherit a recipe with extends. A test list maps testcase names to UVM tests; many testcases can share one UVM test with different arguments.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job has its own directory with run.sh, one .cmd and .log per step, and status files. This is where you debug.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usage: first run, adding a design, selecting tests and changing arguments.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model only uses echo, so it runs anywhere. It is in the sample project under example/, which dv_flow uses when there is no ./config.yml and no -c. Show --list and --dry-run first, then a real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step. The VCS recipe in the master config means a new model is two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--testcase accepts names, sections, globs and all. Seeds: an integer plus count gives consecutive seeds, random draws a new one per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syntax: PHASE, optional sub-phase, optional field. Equals replaces, plus-equals appends. Command line wins over the test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of files, reuse with anchors and extends, variables, options and log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project file includes the master as text, so anchors work across files. Top-level keys in both files are merged, the project file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extends inherits a whole model with a deep merge. Anchors reuse single blocks; the merge key is one level deep, so merge the inner block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Variables can refer to each other. Priority: --define, then project variables, then master variables, then built-in names like model, test and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per test or section; the build gets coverage automatically when needed. DVE is the default debug tool. UVM options have per-test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check_log.py runs as the sim post_phase. Profiles in common/log_check.yml; pick one per testcase with log_profile. Writes test_status.yml.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on the cluster: modes, what is submitted, tracking, time limits and killed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Batch for regressions, interactive for debugging and GUI sessions. --slurm turns Slurm on; slurm.enable makes it the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dry-run output. Job name is testname.seed.time. Time limit from slurm_timeout. Test jobs depend on the build and are cancelled if it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squeue call per poll for all jobs, sacct for finished ones, then the status files. Every 30 seconds by default. Ctrl-C stops waiting, not the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one hour per test job. Slurm enforces the limit: SIGTERM, a grace period, then SIGKILL. run.sh records the kill; the tracker asks Slurm when it cannot.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Dump waves only for the tests you debug: waves: true in the test list or --dump-waves. --open-waves finds the newest run's waves.vpd and opens DVE on Slurm, interactively with X11. The viewer has its own Slurm settings, memory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find out why something failed, the most common errors, and how to write YAML and Jinja that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from the outside in: what the flow planned, then the job directory, then the failing step. Re-running a .cmd file reproduces exactly what the flow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cover most support questions. The error text always names the file and usually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YAML is parsed after Jinja, so think about the rendered text. Most YAML errors are quoting or indentation.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dv_flow uses strict mode: an undefined name is an error. Comments are removed before rendering. Use default and is defined for optional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30 to 45 minutes. Use the demo model so no simulator is needed; exercises 5 and 6 need the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questions. The user guide in doc/dv_flow_user_guide.docx has every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dv_flow training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dv_flow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Design verification flow training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Compile, elaborate and simulate with YAML + Jinja2</a:t>
            </a:r>
            <a:endParaRPr lang="en-US" sz="2000" dirty="0"/>
          </a:p>
        </p:txBody>
      </p:sp>
      <p:sp>
        <p:nvSpPr>
          <p:cNvPr id="5" name="title circle 1"/>
          <p:cNvSpPr/>
          <p:nvPr/>
        </p:nvSpPr>
        <p:spPr>
          <a:xfrm>
            <a:off x="6675120" y="91440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itle circle 2"/>
          <p:cNvSpPr/>
          <p:nvPr/>
        </p:nvSpPr>
        <p:spPr>
          <a:xfrm>
            <a:off x="7498080" y="237744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itle circle 3"/>
          <p:cNvSpPr/>
          <p:nvPr/>
        </p:nvSpPr>
        <p:spPr>
          <a:xfrm>
            <a:off x="6400800" y="31089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Agenda</a:t>
            </a:r>
            <a:endParaRPr lang="en-US" sz="3000" dirty="0"/>
          </a:p>
        </p:txBody>
      </p:sp>
      <p:sp>
        <p:nvSpPr>
          <p:cNvPr id="4" name="agenda 1 badge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genda 1 badge text"/>
          <p:cNvSpPr txBox="1"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agenda title 1"/>
          <p:cNvSpPr txBox="1"/>
          <p:nvPr/>
        </p:nvSpPr>
        <p:spPr>
          <a:xfrm>
            <a:off x="1188720" y="1078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Concepts</a:t>
            </a:r>
            <a:endParaRPr lang="en-US" sz="1600" dirty="0"/>
          </a:p>
        </p:txBody>
      </p:sp>
      <p:sp>
        <p:nvSpPr>
          <p:cNvPr id="7" name="agenda text 1"/>
          <p:cNvSpPr txBox="1"/>
          <p:nvPr/>
        </p:nvSpPr>
        <p:spPr>
          <a:xfrm>
            <a:off x="118872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Phases, models, test lists, jobs</a:t>
            </a:r>
            <a:endParaRPr lang="en-US" sz="1200" dirty="0"/>
          </a:p>
        </p:txBody>
      </p:sp>
      <p:sp>
        <p:nvSpPr>
          <p:cNvPr id="8" name="agenda 2 badge"/>
          <p:cNvSpPr/>
          <p:nvPr/>
        </p:nvSpPr>
        <p:spPr>
          <a:xfrm>
            <a:off x="548640" y="18105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agenda 2 badge text"/>
          <p:cNvSpPr txBox="1"/>
          <p:nvPr/>
        </p:nvSpPr>
        <p:spPr>
          <a:xfrm>
            <a:off x="5486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agenda title 2"/>
          <p:cNvSpPr txBox="1"/>
          <p:nvPr/>
        </p:nvSpPr>
        <p:spPr>
          <a:xfrm>
            <a:off x="1188720" y="17922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Running the flow</a:t>
            </a:r>
            <a:endParaRPr lang="en-US" sz="1600" dirty="0"/>
          </a:p>
        </p:txBody>
      </p:sp>
      <p:sp>
        <p:nvSpPr>
          <p:cNvPr id="11" name="agenda text 2"/>
          <p:cNvSpPr txBox="1"/>
          <p:nvPr/>
        </p:nvSpPr>
        <p:spPr>
          <a:xfrm>
            <a:off x="1188720" y="2066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Commands, tests, seeds, phase arguments</a:t>
            </a:r>
            <a:endParaRPr lang="en-US" sz="1200" dirty="0"/>
          </a:p>
        </p:txBody>
      </p:sp>
      <p:sp>
        <p:nvSpPr>
          <p:cNvPr id="12" name="agenda 3 badge"/>
          <p:cNvSpPr/>
          <p:nvPr/>
        </p:nvSpPr>
        <p:spPr>
          <a:xfrm>
            <a:off x="548640" y="25237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genda 3 badge text"/>
          <p:cNvSpPr txBox="1"/>
          <p:nvPr/>
        </p:nvSpPr>
        <p:spPr>
          <a:xfrm>
            <a:off x="54864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agenda title 3"/>
          <p:cNvSpPr txBox="1"/>
          <p:nvPr/>
        </p:nvSpPr>
        <p:spPr>
          <a:xfrm>
            <a:off x="1188720" y="25054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Advanced configuration</a:t>
            </a:r>
            <a:endParaRPr lang="en-US" sz="1600" dirty="0"/>
          </a:p>
        </p:txBody>
      </p:sp>
      <p:sp>
        <p:nvSpPr>
          <p:cNvPr id="15" name="agenda text 3"/>
          <p:cNvSpPr txBox="1"/>
          <p:nvPr/>
        </p:nvSpPr>
        <p:spPr>
          <a:xfrm>
            <a:off x="1188720" y="2779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Hierarchy, anchors, variables, PASS/FAIL</a:t>
            </a:r>
            <a:endParaRPr lang="en-US" sz="1200" dirty="0"/>
          </a:p>
        </p:txBody>
      </p:sp>
      <p:sp>
        <p:nvSpPr>
          <p:cNvPr id="16" name="agenda 4 badge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agenda 4 badge text"/>
          <p:cNvSpPr txBox="1"/>
          <p:nvPr/>
        </p:nvSpPr>
        <p:spPr>
          <a:xfrm>
            <a:off x="5486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agenda title 4"/>
          <p:cNvSpPr txBox="1"/>
          <p:nvPr/>
        </p:nvSpPr>
        <p:spPr>
          <a:xfrm>
            <a:off x="1188720" y="3218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Slurm</a:t>
            </a:r>
            <a:endParaRPr lang="en-US" sz="1600" dirty="0"/>
          </a:p>
        </p:txBody>
      </p:sp>
      <p:sp>
        <p:nvSpPr>
          <p:cNvPr id="19" name="agenda text 4"/>
          <p:cNvSpPr txBox="1"/>
          <p:nvPr/>
        </p:nvSpPr>
        <p:spPr>
          <a:xfrm>
            <a:off x="1188720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Batch, interactive, tracking, time limits</a:t>
            </a:r>
            <a:endParaRPr lang="en-US" sz="1200" dirty="0"/>
          </a:p>
        </p:txBody>
      </p:sp>
      <p:sp>
        <p:nvSpPr>
          <p:cNvPr id="20" name="agenda 5 badge"/>
          <p:cNvSpPr/>
          <p:nvPr/>
        </p:nvSpPr>
        <p:spPr>
          <a:xfrm>
            <a:off x="548640" y="39502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agenda 5 badge text"/>
          <p:cNvSpPr txBox="1"/>
          <p:nvPr/>
        </p:nvSpPr>
        <p:spPr>
          <a:xfrm>
            <a:off x="5486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agenda title 5"/>
          <p:cNvSpPr txBox="1"/>
          <p:nvPr/>
        </p:nvSpPr>
        <p:spPr>
          <a:xfrm>
            <a:off x="1188720" y="3931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Debugging and tips</a:t>
            </a:r>
            <a:endParaRPr lang="en-US" sz="1600" dirty="0"/>
          </a:p>
        </p:txBody>
      </p:sp>
      <p:sp>
        <p:nvSpPr>
          <p:cNvPr id="23" name="agenda text 5"/>
          <p:cNvSpPr txBox="1"/>
          <p:nvPr/>
        </p:nvSpPr>
        <p:spPr>
          <a:xfrm>
            <a:off x="118872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Checklist, errors, YAML and Jinja</a:t>
            </a:r>
            <a:endParaRPr lang="en-US" sz="1200" dirty="0"/>
          </a:p>
        </p:txBody>
      </p:sp>
      <p:sp>
        <p:nvSpPr>
          <p:cNvPr id="24" name="outcomes card"/>
          <p:cNvSpPr/>
          <p:nvPr/>
        </p:nvSpPr>
        <p:spPr>
          <a:xfrm>
            <a:off x="5120640" y="1097280"/>
            <a:ext cx="356616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outcomes title"/>
          <p:cNvSpPr txBox="1"/>
          <p:nvPr/>
        </p:nvSpPr>
        <p:spPr>
          <a:xfrm>
            <a:off x="534924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By the end you can</a:t>
            </a:r>
            <a:endParaRPr lang="en-US" sz="1600" dirty="0"/>
          </a:p>
        </p:txBody>
      </p:sp>
      <p:sp>
        <p:nvSpPr>
          <p:cNvPr id="26" name="outcomes list"/>
          <p:cNvSpPr txBox="1"/>
          <p:nvPr/>
        </p:nvSpPr>
        <p:spPr>
          <a:xfrm>
            <a:off x="5349240" y="173736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a design and its test 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 builds, tests and regressions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Override any argument from the command 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 and track jobs on Slurm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Find out why a job failed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Concepts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Phases, models, test lists and jobs</a:t>
            </a:r>
            <a:endParaRPr lang="en-US" sz="18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548640" y="914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01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dv_flow does</a:t>
            </a:r>
            <a:endParaRPr lang="en-US" sz="3000" dirty="0"/>
          </a:p>
        </p:txBody>
      </p:sp>
      <p:sp>
        <p:nvSpPr>
          <p:cNvPr id="4" name="feature 1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feature 1 badge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eature 1 badge text"/>
          <p:cNvSpPr txBox="1"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feature title 1"/>
          <p:cNvSpPr txBox="1"/>
          <p:nvPr/>
        </p:nvSpPr>
        <p:spPr>
          <a:xfrm>
            <a:off x="1188720" y="13167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YAML + Jinja2</a:t>
            </a:r>
            <a:endParaRPr lang="en-US" sz="1500" dirty="0"/>
          </a:p>
        </p:txBody>
      </p:sp>
      <p:sp>
        <p:nvSpPr>
          <p:cNvPr id="8" name="feature text 1"/>
          <p:cNvSpPr txBox="1"/>
          <p:nvPr/>
        </p:nvSpPr>
        <p:spPr>
          <a:xfrm>
            <a:off x="64008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Configs and test lists with variables, conditions, loops and includes.</a:t>
            </a:r>
            <a:endParaRPr lang="en-US" sz="1200" dirty="0"/>
          </a:p>
        </p:txBody>
      </p:sp>
      <p:sp>
        <p:nvSpPr>
          <p:cNvPr id="9" name="feature 2"/>
          <p:cNvSpPr/>
          <p:nvPr/>
        </p:nvSpPr>
        <p:spPr>
          <a:xfrm>
            <a:off x="329184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feature 2 badge"/>
          <p:cNvSpPr/>
          <p:nvPr/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eature 2 badge text"/>
          <p:cNvSpPr txBox="1"/>
          <p:nvPr/>
        </p:nvSpPr>
        <p:spPr>
          <a:xfrm>
            <a:off x="34747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feature title 2"/>
          <p:cNvSpPr txBox="1"/>
          <p:nvPr/>
        </p:nvSpPr>
        <p:spPr>
          <a:xfrm>
            <a:off x="4023360" y="13167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Phases and steps</a:t>
            </a:r>
            <a:endParaRPr lang="en-US" sz="1500" dirty="0"/>
          </a:p>
        </p:txBody>
      </p:sp>
      <p:sp>
        <p:nvSpPr>
          <p:cNvPr id="13" name="feature text 2"/>
          <p:cNvSpPr txBox="1"/>
          <p:nvPr/>
        </p:nvSpPr>
        <p:spPr>
          <a:xfrm>
            <a:off x="347472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compile, elab, sim ... each split into pre_phase, phase, post_phase.</a:t>
            </a:r>
            <a:endParaRPr lang="en-US" sz="1200" dirty="0"/>
          </a:p>
        </p:txBody>
      </p:sp>
      <p:sp>
        <p:nvSpPr>
          <p:cNvPr id="14" name="feature 3"/>
          <p:cNvSpPr/>
          <p:nvPr/>
        </p:nvSpPr>
        <p:spPr>
          <a:xfrm>
            <a:off x="612648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feature 3 badge"/>
          <p:cNvSpPr/>
          <p:nvPr/>
        </p:nvSpPr>
        <p:spPr>
          <a:xfrm>
            <a:off x="630936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feature 3 badge text"/>
          <p:cNvSpPr txBox="1"/>
          <p:nvPr/>
        </p:nvSpPr>
        <p:spPr>
          <a:xfrm>
            <a:off x="63093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feature title 3"/>
          <p:cNvSpPr txBox="1"/>
          <p:nvPr/>
        </p:nvSpPr>
        <p:spPr>
          <a:xfrm>
            <a:off x="6858000" y="13167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 lists</a:t>
            </a:r>
            <a:endParaRPr lang="en-US" sz="1500" dirty="0"/>
          </a:p>
        </p:txBody>
      </p:sp>
      <p:sp>
        <p:nvSpPr>
          <p:cNvPr id="18" name="feature text 3"/>
          <p:cNvSpPr txBox="1"/>
          <p:nvPr/>
        </p:nvSpPr>
        <p:spPr>
          <a:xfrm>
            <a:off x="630936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Testcase name maps to a UVM test plus its args, seed, count and options.</a:t>
            </a:r>
            <a:endParaRPr lang="en-US" sz="1200" dirty="0"/>
          </a:p>
        </p:txBody>
      </p:sp>
      <p:sp>
        <p:nvSpPr>
          <p:cNvPr id="19" name="feature 4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feature 4 badge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feature 4 badge text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feature title 4"/>
          <p:cNvSpPr txBox="1"/>
          <p:nvPr/>
        </p:nvSpPr>
        <p:spPr>
          <a:xfrm>
            <a:off x="1188720" y="30998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Command line</a:t>
            </a:r>
            <a:endParaRPr lang="en-US" sz="1500" dirty="0"/>
          </a:p>
        </p:txBody>
      </p:sp>
      <p:sp>
        <p:nvSpPr>
          <p:cNvPr id="23" name="feature text 4"/>
          <p:cNvSpPr txBox="1"/>
          <p:nvPr/>
        </p:nvSpPr>
        <p:spPr>
          <a:xfrm>
            <a:off x="64008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Append to or replace cmd, opts or args of any step.</a:t>
            </a:r>
            <a:endParaRPr lang="en-US" sz="1200" dirty="0"/>
          </a:p>
        </p:txBody>
      </p:sp>
      <p:sp>
        <p:nvSpPr>
          <p:cNvPr id="24" name="feature 5"/>
          <p:cNvSpPr/>
          <p:nvPr/>
        </p:nvSpPr>
        <p:spPr>
          <a:xfrm>
            <a:off x="329184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feature 5 badge"/>
          <p:cNvSpPr/>
          <p:nvPr/>
        </p:nvSpPr>
        <p:spPr>
          <a:xfrm>
            <a:off x="3474720" y="30632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feature 5 badge text"/>
          <p:cNvSpPr txBox="1"/>
          <p:nvPr/>
        </p:nvSpPr>
        <p:spPr>
          <a:xfrm>
            <a:off x="3474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feature title 5"/>
          <p:cNvSpPr txBox="1"/>
          <p:nvPr/>
        </p:nvSpPr>
        <p:spPr>
          <a:xfrm>
            <a:off x="4023360" y="30998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Slurm</a:t>
            </a:r>
            <a:endParaRPr lang="en-US" sz="1500" dirty="0"/>
          </a:p>
        </p:txBody>
      </p:sp>
      <p:sp>
        <p:nvSpPr>
          <p:cNvPr id="28" name="feature text 5"/>
          <p:cNvSpPr txBox="1"/>
          <p:nvPr/>
        </p:nvSpPr>
        <p:spPr>
          <a:xfrm>
            <a:off x="347472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Batch or interactive, GUI jobs, time limits, tracking to PASS/FAIL.</a:t>
            </a:r>
            <a:endParaRPr lang="en-US" sz="1200" dirty="0"/>
          </a:p>
        </p:txBody>
      </p:sp>
      <p:sp>
        <p:nvSpPr>
          <p:cNvPr id="29" name="feature 6"/>
          <p:cNvSpPr/>
          <p:nvPr/>
        </p:nvSpPr>
        <p:spPr>
          <a:xfrm>
            <a:off x="612648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feature 6 badge"/>
          <p:cNvSpPr/>
          <p:nvPr/>
        </p:nvSpPr>
        <p:spPr>
          <a:xfrm>
            <a:off x="6309360" y="30632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feature 6 badge text"/>
          <p:cNvSpPr txBox="1"/>
          <p:nvPr/>
        </p:nvSpPr>
        <p:spPr>
          <a:xfrm>
            <a:off x="63093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feature title 6"/>
          <p:cNvSpPr txBox="1"/>
          <p:nvPr/>
        </p:nvSpPr>
        <p:spPr>
          <a:xfrm>
            <a:off x="6858000" y="30998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 checking</a:t>
            </a:r>
            <a:endParaRPr lang="en-US" sz="1500" dirty="0"/>
          </a:p>
        </p:txBody>
      </p:sp>
      <p:sp>
        <p:nvSpPr>
          <p:cNvPr id="33" name="feature text 6"/>
          <p:cNvSpPr txBox="1"/>
          <p:nvPr/>
        </p:nvSpPr>
        <p:spPr>
          <a:xfrm>
            <a:off x="630936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PASS/FAIL from configurable fail / require / ignore patterns.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a run works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457200" y="1188720"/>
            <a:ext cx="1143000" cy="132588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tep 1 badge"/>
          <p:cNvSpPr/>
          <p:nvPr/>
        </p:nvSpPr>
        <p:spPr>
          <a:xfrm>
            <a:off x="822960" y="12984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1 badge text"/>
          <p:cNvSpPr txBox="1"/>
          <p:nvPr/>
        </p:nvSpPr>
        <p:spPr>
          <a:xfrm>
            <a:off x="82296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tep title 1"/>
          <p:cNvSpPr txBox="1"/>
          <p:nvPr/>
        </p:nvSpPr>
        <p:spPr>
          <a:xfrm>
            <a:off x="502920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Render</a:t>
            </a:r>
            <a:endParaRPr lang="en-US" sz="1400" dirty="0"/>
          </a:p>
        </p:txBody>
      </p:sp>
      <p:sp>
        <p:nvSpPr>
          <p:cNvPr id="8" name="step text 1"/>
          <p:cNvSpPr txBox="1"/>
          <p:nvPr/>
        </p:nvSpPr>
        <p:spPr>
          <a:xfrm>
            <a:off x="502920" y="20756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config + includes</a:t>
            </a:r>
            <a:endParaRPr lang="en-US" sz="1100" dirty="0"/>
          </a:p>
        </p:txBody>
      </p:sp>
      <p:sp>
        <p:nvSpPr>
          <p:cNvPr id="9" name="step arrow 1"/>
          <p:cNvSpPr/>
          <p:nvPr/>
        </p:nvSpPr>
        <p:spPr>
          <a:xfrm>
            <a:off x="1618488" y="1719072"/>
            <a:ext cx="219456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1856232" y="1188720"/>
            <a:ext cx="1143000" cy="132588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tep 2 badge"/>
          <p:cNvSpPr/>
          <p:nvPr/>
        </p:nvSpPr>
        <p:spPr>
          <a:xfrm>
            <a:off x="2221992" y="12984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2 badge text"/>
          <p:cNvSpPr txBox="1"/>
          <p:nvPr/>
        </p:nvSpPr>
        <p:spPr>
          <a:xfrm>
            <a:off x="2221992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tep title 2"/>
          <p:cNvSpPr txBox="1"/>
          <p:nvPr/>
        </p:nvSpPr>
        <p:spPr>
          <a:xfrm>
            <a:off x="1901952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Select</a:t>
            </a:r>
            <a:endParaRPr lang="en-US" sz="1400" dirty="0"/>
          </a:p>
        </p:txBody>
      </p:sp>
      <p:sp>
        <p:nvSpPr>
          <p:cNvPr id="14" name="step text 2"/>
          <p:cNvSpPr txBox="1"/>
          <p:nvPr/>
        </p:nvSpPr>
        <p:spPr>
          <a:xfrm>
            <a:off x="1901952" y="20756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phases, testcases</a:t>
            </a:r>
            <a:endParaRPr lang="en-US" sz="1100" dirty="0"/>
          </a:p>
        </p:txBody>
      </p:sp>
      <p:sp>
        <p:nvSpPr>
          <p:cNvPr id="15" name="step arrow 2"/>
          <p:cNvSpPr/>
          <p:nvPr/>
        </p:nvSpPr>
        <p:spPr>
          <a:xfrm>
            <a:off x="3017520" y="1719072"/>
            <a:ext cx="219456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tep 3"/>
          <p:cNvSpPr/>
          <p:nvPr/>
        </p:nvSpPr>
        <p:spPr>
          <a:xfrm>
            <a:off x="3255264" y="1188720"/>
            <a:ext cx="1143000" cy="132588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tep 3 badge"/>
          <p:cNvSpPr/>
          <p:nvPr/>
        </p:nvSpPr>
        <p:spPr>
          <a:xfrm>
            <a:off x="3621024" y="12984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tep 3 badge text"/>
          <p:cNvSpPr txBox="1"/>
          <p:nvPr/>
        </p:nvSpPr>
        <p:spPr>
          <a:xfrm>
            <a:off x="3621024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tep title 3"/>
          <p:cNvSpPr txBox="1"/>
          <p:nvPr/>
        </p:nvSpPr>
        <p:spPr>
          <a:xfrm>
            <a:off x="3300984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</a:t>
            </a:r>
            <a:endParaRPr lang="en-US" sz="1400" dirty="0"/>
          </a:p>
        </p:txBody>
      </p:sp>
      <p:sp>
        <p:nvSpPr>
          <p:cNvPr id="20" name="step text 3"/>
          <p:cNvSpPr txBox="1"/>
          <p:nvPr/>
        </p:nvSpPr>
        <p:spPr>
          <a:xfrm>
            <a:off x="3300984" y="20756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build + test jobs</a:t>
            </a:r>
            <a:endParaRPr lang="en-US" sz="1100" dirty="0"/>
          </a:p>
        </p:txBody>
      </p:sp>
      <p:sp>
        <p:nvSpPr>
          <p:cNvPr id="21" name="step arrow 3"/>
          <p:cNvSpPr/>
          <p:nvPr/>
        </p:nvSpPr>
        <p:spPr>
          <a:xfrm>
            <a:off x="4416552" y="1719072"/>
            <a:ext cx="219456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step 4"/>
          <p:cNvSpPr/>
          <p:nvPr/>
        </p:nvSpPr>
        <p:spPr>
          <a:xfrm>
            <a:off x="4654296" y="1188720"/>
            <a:ext cx="1143000" cy="132588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tep 4 badge"/>
          <p:cNvSpPr/>
          <p:nvPr/>
        </p:nvSpPr>
        <p:spPr>
          <a:xfrm>
            <a:off x="5020056" y="12984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tep 4 badge text"/>
          <p:cNvSpPr txBox="1"/>
          <p:nvPr/>
        </p:nvSpPr>
        <p:spPr>
          <a:xfrm>
            <a:off x="5020056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tep title 4"/>
          <p:cNvSpPr txBox="1"/>
          <p:nvPr/>
        </p:nvSpPr>
        <p:spPr>
          <a:xfrm>
            <a:off x="4700016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Write</a:t>
            </a:r>
            <a:endParaRPr lang="en-US" sz="1400" dirty="0"/>
          </a:p>
        </p:txBody>
      </p:sp>
      <p:sp>
        <p:nvSpPr>
          <p:cNvPr id="26" name="step text 4"/>
          <p:cNvSpPr txBox="1"/>
          <p:nvPr/>
        </p:nvSpPr>
        <p:spPr>
          <a:xfrm>
            <a:off x="4700016" y="20756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run.sh, *.cmd</a:t>
            </a:r>
            <a:endParaRPr lang="en-US" sz="1100" dirty="0"/>
          </a:p>
        </p:txBody>
      </p:sp>
      <p:sp>
        <p:nvSpPr>
          <p:cNvPr id="27" name="step arrow 4"/>
          <p:cNvSpPr/>
          <p:nvPr/>
        </p:nvSpPr>
        <p:spPr>
          <a:xfrm>
            <a:off x="5815584" y="1719072"/>
            <a:ext cx="219456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step 5"/>
          <p:cNvSpPr/>
          <p:nvPr/>
        </p:nvSpPr>
        <p:spPr>
          <a:xfrm>
            <a:off x="6053328" y="1188720"/>
            <a:ext cx="1143000" cy="132588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tep 5 badge"/>
          <p:cNvSpPr/>
          <p:nvPr/>
        </p:nvSpPr>
        <p:spPr>
          <a:xfrm>
            <a:off x="6419088" y="12984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tep 5 badge text"/>
          <p:cNvSpPr txBox="1"/>
          <p:nvPr/>
        </p:nvSpPr>
        <p:spPr>
          <a:xfrm>
            <a:off x="6419088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step title 5"/>
          <p:cNvSpPr txBox="1"/>
          <p:nvPr/>
        </p:nvSpPr>
        <p:spPr>
          <a:xfrm>
            <a:off x="6099048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</a:t>
            </a:r>
            <a:endParaRPr lang="en-US" sz="1400" dirty="0"/>
          </a:p>
        </p:txBody>
      </p:sp>
      <p:sp>
        <p:nvSpPr>
          <p:cNvPr id="32" name="step text 5"/>
          <p:cNvSpPr txBox="1"/>
          <p:nvPr/>
        </p:nvSpPr>
        <p:spPr>
          <a:xfrm>
            <a:off x="6099048" y="20756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local or Slurm</a:t>
            </a:r>
            <a:endParaRPr lang="en-US" sz="1100" dirty="0"/>
          </a:p>
        </p:txBody>
      </p:sp>
      <p:sp>
        <p:nvSpPr>
          <p:cNvPr id="33" name="step arrow 5"/>
          <p:cNvSpPr/>
          <p:nvPr/>
        </p:nvSpPr>
        <p:spPr>
          <a:xfrm>
            <a:off x="7214616" y="1719072"/>
            <a:ext cx="219456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step 6"/>
          <p:cNvSpPr/>
          <p:nvPr/>
        </p:nvSpPr>
        <p:spPr>
          <a:xfrm>
            <a:off x="7452360" y="1188720"/>
            <a:ext cx="1143000" cy="132588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tep 6 badge"/>
          <p:cNvSpPr/>
          <p:nvPr/>
        </p:nvSpPr>
        <p:spPr>
          <a:xfrm>
            <a:off x="7818120" y="12984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step 6 badge text"/>
          <p:cNvSpPr txBox="1"/>
          <p:nvPr/>
        </p:nvSpPr>
        <p:spPr>
          <a:xfrm>
            <a:off x="781812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step title 6"/>
          <p:cNvSpPr txBox="1"/>
          <p:nvPr/>
        </p:nvSpPr>
        <p:spPr>
          <a:xfrm>
            <a:off x="7498080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</a:t>
            </a:r>
            <a:endParaRPr lang="en-US" sz="1400" dirty="0"/>
          </a:p>
        </p:txBody>
      </p:sp>
      <p:sp>
        <p:nvSpPr>
          <p:cNvPr id="38" name="step text 6"/>
          <p:cNvSpPr txBox="1"/>
          <p:nvPr/>
        </p:nvSpPr>
        <p:spPr>
          <a:xfrm>
            <a:off x="7498080" y="20756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logs, PASS/FAIL</a:t>
            </a:r>
            <a:endParaRPr lang="en-US" sz="1100" dirty="0"/>
          </a:p>
        </p:txBody>
      </p:sp>
      <p:sp>
        <p:nvSpPr>
          <p:cNvPr id="39" name="assembly panel"/>
          <p:cNvSpPr/>
          <p:nvPr/>
        </p:nvSpPr>
        <p:spPr>
          <a:xfrm>
            <a:off x="457200" y="2788920"/>
            <a:ext cx="822960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assembly panel text"/>
          <p:cNvSpPr txBox="1"/>
          <p:nvPr/>
        </p:nvSpPr>
        <p:spPr>
          <a:xfrm>
            <a:off x="594360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 opts  args  &lt;test_args e.g. +UVM_TESTNAME&gt;  &lt;phase args&gt;</a:t>
            </a:r>
            <a:endParaRPr lang="en-US" sz="1400" dirty="0"/>
          </a:p>
        </p:txBody>
      </p:sp>
      <p:sp>
        <p:nvSpPr>
          <p:cNvPr id="41" name="build job card"/>
          <p:cNvSpPr/>
          <p:nvPr/>
        </p:nvSpPr>
        <p:spPr>
          <a:xfrm>
            <a:off x="457200" y="3566160"/>
            <a:ext cx="39776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build job text"/>
          <p:cNvSpPr txBox="1"/>
          <p:nvPr/>
        </p:nvSpPr>
        <p:spPr>
          <a:xfrm>
            <a:off x="640080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Build job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scope: build phases (compile, elab), once per run, in build_dir</a:t>
            </a:r>
            <a:endParaRPr lang="en-US" sz="1300" dirty="0"/>
          </a:p>
        </p:txBody>
      </p:sp>
      <p:sp>
        <p:nvSpPr>
          <p:cNvPr id="43" name="test job card"/>
          <p:cNvSpPr/>
          <p:nvPr/>
        </p:nvSpPr>
        <p:spPr>
          <a:xfrm>
            <a:off x="4709160" y="3566160"/>
            <a:ext cx="39776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st job text"/>
          <p:cNvSpPr txBox="1"/>
          <p:nvPr/>
        </p:nvSpPr>
        <p:spPr>
          <a:xfrm>
            <a:off x="4892040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Test jobs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scope: test phases (sim), one per testcase and seed, in run_dir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Phases and their three steps</a:t>
            </a:r>
            <a:endParaRPr lang="en-US" sz="3000" dirty="0"/>
          </a:p>
        </p:txBody>
      </p:sp>
      <p:sp>
        <p:nvSpPr>
          <p:cNvPr id="4" name="phase compile"/>
          <p:cNvSpPr/>
          <p:nvPr/>
        </p:nvSpPr>
        <p:spPr>
          <a:xfrm>
            <a:off x="457200" y="109728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hase name compile"/>
          <p:cNvSpPr txBox="1"/>
          <p:nvPr/>
        </p:nvSpPr>
        <p:spPr>
          <a:xfrm>
            <a:off x="640080" y="1207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compile</a:t>
            </a:r>
            <a:endParaRPr lang="en-US" sz="1800" dirty="0"/>
          </a:p>
        </p:txBody>
      </p:sp>
      <p:sp>
        <p:nvSpPr>
          <p:cNvPr id="6" name="phase scope compile"/>
          <p:cNvSpPr txBox="1"/>
          <p:nvPr/>
        </p:nvSpPr>
        <p:spPr>
          <a:xfrm>
            <a:off x="178308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scope: build</a:t>
            </a:r>
            <a:endParaRPr lang="en-US" sz="1100" dirty="0"/>
          </a:p>
        </p:txBody>
      </p:sp>
      <p:sp>
        <p:nvSpPr>
          <p:cNvPr id="7" name="compile pre_phase"/>
          <p:cNvSpPr/>
          <p:nvPr/>
        </p:nvSpPr>
        <p:spPr>
          <a:xfrm>
            <a:off x="640080" y="1691640"/>
            <a:ext cx="224028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ompile pre_phase text"/>
          <p:cNvSpPr txBox="1"/>
          <p:nvPr/>
        </p:nvSpPr>
        <p:spPr>
          <a:xfrm>
            <a:off x="731520" y="169164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pre_phase</a:t>
            </a:r>
            <a:endParaRPr lang="en-US" sz="1300" dirty="0"/>
          </a:p>
        </p:txBody>
      </p:sp>
      <p:sp>
        <p:nvSpPr>
          <p:cNvPr id="9" name="compile phase"/>
          <p:cNvSpPr/>
          <p:nvPr/>
        </p:nvSpPr>
        <p:spPr>
          <a:xfrm>
            <a:off x="640080" y="2240280"/>
            <a:ext cx="2240280" cy="43891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ompile phase text"/>
          <p:cNvSpPr txBox="1"/>
          <p:nvPr/>
        </p:nvSpPr>
        <p:spPr>
          <a:xfrm>
            <a:off x="731520" y="22402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 (main)</a:t>
            </a:r>
            <a:endParaRPr lang="en-US" sz="1300" dirty="0"/>
          </a:p>
        </p:txBody>
      </p:sp>
      <p:sp>
        <p:nvSpPr>
          <p:cNvPr id="11" name="compile post_phase"/>
          <p:cNvSpPr/>
          <p:nvPr/>
        </p:nvSpPr>
        <p:spPr>
          <a:xfrm>
            <a:off x="640080" y="2788920"/>
            <a:ext cx="224028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ompile post_phase text"/>
          <p:cNvSpPr txBox="1"/>
          <p:nvPr/>
        </p:nvSpPr>
        <p:spPr>
          <a:xfrm>
            <a:off x="731520" y="27889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post_phase</a:t>
            </a:r>
            <a:endParaRPr lang="en-US" sz="1300" dirty="0"/>
          </a:p>
        </p:txBody>
      </p:sp>
      <p:sp>
        <p:nvSpPr>
          <p:cNvPr id="13" name="phase elab"/>
          <p:cNvSpPr/>
          <p:nvPr/>
        </p:nvSpPr>
        <p:spPr>
          <a:xfrm>
            <a:off x="3291840" y="109728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hase name elab"/>
          <p:cNvSpPr txBox="1"/>
          <p:nvPr/>
        </p:nvSpPr>
        <p:spPr>
          <a:xfrm>
            <a:off x="3474720" y="1207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elab</a:t>
            </a:r>
            <a:endParaRPr lang="en-US" sz="1800" dirty="0"/>
          </a:p>
        </p:txBody>
      </p:sp>
      <p:sp>
        <p:nvSpPr>
          <p:cNvPr id="15" name="phase scope elab"/>
          <p:cNvSpPr txBox="1"/>
          <p:nvPr/>
        </p:nvSpPr>
        <p:spPr>
          <a:xfrm>
            <a:off x="461772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scope: build</a:t>
            </a:r>
            <a:endParaRPr lang="en-US" sz="1100" dirty="0"/>
          </a:p>
        </p:txBody>
      </p:sp>
      <p:sp>
        <p:nvSpPr>
          <p:cNvPr id="16" name="elab pre_phase"/>
          <p:cNvSpPr/>
          <p:nvPr/>
        </p:nvSpPr>
        <p:spPr>
          <a:xfrm>
            <a:off x="3474720" y="1691640"/>
            <a:ext cx="224028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elab pre_phase text"/>
          <p:cNvSpPr txBox="1"/>
          <p:nvPr/>
        </p:nvSpPr>
        <p:spPr>
          <a:xfrm>
            <a:off x="3566160" y="169164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pre_phase</a:t>
            </a:r>
            <a:endParaRPr lang="en-US" sz="1300" dirty="0"/>
          </a:p>
        </p:txBody>
      </p:sp>
      <p:sp>
        <p:nvSpPr>
          <p:cNvPr id="18" name="elab phase"/>
          <p:cNvSpPr/>
          <p:nvPr/>
        </p:nvSpPr>
        <p:spPr>
          <a:xfrm>
            <a:off x="3474720" y="2240280"/>
            <a:ext cx="2240280" cy="43891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elab phase text"/>
          <p:cNvSpPr txBox="1"/>
          <p:nvPr/>
        </p:nvSpPr>
        <p:spPr>
          <a:xfrm>
            <a:off x="3566160" y="22402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 (main)</a:t>
            </a:r>
            <a:endParaRPr lang="en-US" sz="1300" dirty="0"/>
          </a:p>
        </p:txBody>
      </p:sp>
      <p:sp>
        <p:nvSpPr>
          <p:cNvPr id="20" name="elab post_phase"/>
          <p:cNvSpPr/>
          <p:nvPr/>
        </p:nvSpPr>
        <p:spPr>
          <a:xfrm>
            <a:off x="3474720" y="2788920"/>
            <a:ext cx="224028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elab post_phase text"/>
          <p:cNvSpPr txBox="1"/>
          <p:nvPr/>
        </p:nvSpPr>
        <p:spPr>
          <a:xfrm>
            <a:off x="3566160" y="27889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post_phase</a:t>
            </a:r>
            <a:endParaRPr lang="en-US" sz="1300" dirty="0"/>
          </a:p>
        </p:txBody>
      </p:sp>
      <p:sp>
        <p:nvSpPr>
          <p:cNvPr id="22" name="phase sim"/>
          <p:cNvSpPr/>
          <p:nvPr/>
        </p:nvSpPr>
        <p:spPr>
          <a:xfrm>
            <a:off x="6126480" y="109728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phase name sim"/>
          <p:cNvSpPr txBox="1"/>
          <p:nvPr/>
        </p:nvSpPr>
        <p:spPr>
          <a:xfrm>
            <a:off x="6309360" y="1207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sim</a:t>
            </a:r>
            <a:endParaRPr lang="en-US" sz="1800" dirty="0"/>
          </a:p>
        </p:txBody>
      </p:sp>
      <p:sp>
        <p:nvSpPr>
          <p:cNvPr id="24" name="phase scope sim"/>
          <p:cNvSpPr txBox="1"/>
          <p:nvPr/>
        </p:nvSpPr>
        <p:spPr>
          <a:xfrm>
            <a:off x="745236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scope: test</a:t>
            </a:r>
            <a:endParaRPr lang="en-US" sz="1100" dirty="0"/>
          </a:p>
        </p:txBody>
      </p:sp>
      <p:sp>
        <p:nvSpPr>
          <p:cNvPr id="25" name="sim pre_phase"/>
          <p:cNvSpPr/>
          <p:nvPr/>
        </p:nvSpPr>
        <p:spPr>
          <a:xfrm>
            <a:off x="6309360" y="1691640"/>
            <a:ext cx="224028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im pre_phase text"/>
          <p:cNvSpPr txBox="1"/>
          <p:nvPr/>
        </p:nvSpPr>
        <p:spPr>
          <a:xfrm>
            <a:off x="6400800" y="169164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pre_phase</a:t>
            </a:r>
            <a:endParaRPr lang="en-US" sz="1300" dirty="0"/>
          </a:p>
        </p:txBody>
      </p:sp>
      <p:sp>
        <p:nvSpPr>
          <p:cNvPr id="27" name="sim phase"/>
          <p:cNvSpPr/>
          <p:nvPr/>
        </p:nvSpPr>
        <p:spPr>
          <a:xfrm>
            <a:off x="6309360" y="2240280"/>
            <a:ext cx="2240280" cy="43891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im phase text"/>
          <p:cNvSpPr txBox="1"/>
          <p:nvPr/>
        </p:nvSpPr>
        <p:spPr>
          <a:xfrm>
            <a:off x="6400800" y="22402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 (main)</a:t>
            </a:r>
            <a:endParaRPr lang="en-US" sz="1300" dirty="0"/>
          </a:p>
        </p:txBody>
      </p:sp>
      <p:sp>
        <p:nvSpPr>
          <p:cNvPr id="29" name="sim post_phase"/>
          <p:cNvSpPr/>
          <p:nvPr/>
        </p:nvSpPr>
        <p:spPr>
          <a:xfrm>
            <a:off x="6309360" y="2788920"/>
            <a:ext cx="224028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im post_phase text"/>
          <p:cNvSpPr txBox="1"/>
          <p:nvPr/>
        </p:nvSpPr>
        <p:spPr>
          <a:xfrm>
            <a:off x="6400800" y="27889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post_phase</a:t>
            </a:r>
            <a:endParaRPr lang="en-US" sz="1300" dirty="0"/>
          </a:p>
        </p:txBody>
      </p:sp>
      <p:sp>
        <p:nvSpPr>
          <p:cNvPr id="31" name="step yaml"/>
          <p:cNvSpPr/>
          <p:nvPr/>
        </p:nvSpPr>
        <p:spPr>
          <a:xfrm>
            <a:off x="457200" y="3611880"/>
            <a:ext cx="3977640" cy="100584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step yaml text"/>
          <p:cNvSpPr txBox="1"/>
          <p:nvPr/>
        </p:nvSpPr>
        <p:spPr>
          <a:xfrm>
            <a:off x="594360" y="372160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cmd:  vlogan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opts: [-full64, -sverilog]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args: -f filelist.f</a:t>
            </a:r>
            <a:endParaRPr lang="en-US" sz="1100" dirty="0"/>
          </a:p>
        </p:txBody>
      </p:sp>
      <p:sp>
        <p:nvSpPr>
          <p:cNvPr id="33" name="phase notes"/>
          <p:cNvSpPr txBox="1"/>
          <p:nvPr/>
        </p:nvSpPr>
        <p:spPr>
          <a:xfrm>
            <a:off x="4709160" y="361188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Steps run in order; the first failure stops the job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test_args and phase args go to the main step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Add your own phases (lint, cov_merge ...)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Models and test lists</a:t>
            </a:r>
            <a:endParaRPr lang="en-US" sz="3000" dirty="0"/>
          </a:p>
        </p:txBody>
      </p:sp>
      <p:sp>
        <p:nvSpPr>
          <p:cNvPr id="4" name="models heading"/>
          <p:cNvSpPr txBox="1"/>
          <p:nvPr/>
        </p:nvSpPr>
        <p:spPr>
          <a:xfrm>
            <a:off x="457200" y="1051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config.yml - models</a:t>
            </a:r>
            <a:endParaRPr lang="en-US" sz="1400" dirty="0"/>
          </a:p>
        </p:txBody>
      </p:sp>
      <p:sp>
        <p:nvSpPr>
          <p:cNvPr id="5" name="models code"/>
          <p:cNvSpPr/>
          <p:nvPr/>
        </p:nvSpPr>
        <p:spPr>
          <a:xfrm>
            <a:off x="457200" y="1371600"/>
            <a:ext cx="3977640" cy="2926080"/>
          </a:xfrm>
          <a:prstGeom prst="roundRect">
            <a:avLst>
              <a:gd name="adj" fmla="val 187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models code text"/>
          <p:cNvSpPr txBox="1"/>
          <p:nvPr/>
        </p:nvSpPr>
        <p:spPr>
          <a:xfrm>
            <a:off x="594360" y="1481328"/>
            <a:ext cx="370332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vcs_base: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abstract: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phases: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compile: *vcs_compile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elab:    *vcs_elab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sim:     *vcs_sim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dut_a: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extends: vcs_base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testlist: testlists/dut_a.yml</a:t>
            </a:r>
            <a:endParaRPr lang="en-US" sz="1100" dirty="0"/>
          </a:p>
        </p:txBody>
      </p:sp>
      <p:sp>
        <p:nvSpPr>
          <p:cNvPr id="7" name="tests heading"/>
          <p:cNvSpPr txBox="1"/>
          <p:nvPr/>
        </p:nvSpPr>
        <p:spPr>
          <a:xfrm>
            <a:off x="4709160" y="1051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testlists/dut_a.yml - tests</a:t>
            </a:r>
            <a:endParaRPr lang="en-US" sz="1400" dirty="0"/>
          </a:p>
        </p:txBody>
      </p:sp>
      <p:sp>
        <p:nvSpPr>
          <p:cNvPr id="8" name="tests code"/>
          <p:cNvSpPr/>
          <p:nvPr/>
        </p:nvSpPr>
        <p:spPr>
          <a:xfrm>
            <a:off x="4709160" y="1371600"/>
            <a:ext cx="3977640" cy="2926080"/>
          </a:xfrm>
          <a:prstGeom prst="roundRect">
            <a:avLst>
              <a:gd name="adj" fmla="val 187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sts code text"/>
          <p:cNvSpPr txBox="1"/>
          <p:nvPr/>
        </p:nvSpPr>
        <p:spPr>
          <a:xfrm>
            <a:off x="4846320" y="1481328"/>
            <a:ext cx="370332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sanity: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&lt;&lt;: *sanity_defaults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testcase: reg_reset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testname: dut_a_reg_test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phase_args: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sim: +REG_SEQ=hw_reset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verbosity: UVM_HIGH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coverage: true</a:t>
            </a:r>
            <a:endParaRPr lang="en-US" sz="1100" dirty="0"/>
          </a:p>
        </p:txBody>
      </p:sp>
      <p:sp>
        <p:nvSpPr>
          <p:cNvPr id="10" name="testcase result"/>
          <p:cNvSpPr txBox="1"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--testcase=reg_reset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 ./simv ... +UVM_TESTNAME=dut_a_reg_test +REG_SEQ=hw_reset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Jobs and their directories</a:t>
            </a:r>
            <a:endParaRPr lang="en-US" sz="3000" dirty="0"/>
          </a:p>
        </p:txBody>
      </p:sp>
      <p:sp>
        <p:nvSpPr>
          <p:cNvPr id="4" name="tree code"/>
          <p:cNvSpPr/>
          <p:nvPr/>
        </p:nvSpPr>
        <p:spPr>
          <a:xfrm>
            <a:off x="457200" y="1097280"/>
            <a:ext cx="3566160" cy="3520440"/>
          </a:xfrm>
          <a:prstGeom prst="roundRect">
            <a:avLst>
              <a:gd name="adj" fmla="val 15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ree code text"/>
          <p:cNvSpPr txBox="1"/>
          <p:nvPr/>
        </p:nvSpPr>
        <p:spPr>
          <a:xfrm>
            <a:off x="594360" y="1207008"/>
            <a:ext cx="32918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dut_a/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simv  simv.daidir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smoke.1/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run.sh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sim.phase.cmd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sim.phase.log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sim.log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dv_flow.status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test_status.yml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cov/dut_a.vdb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jobs/dut_a_&lt;time&gt;.yml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097280"/>
          <a:ext cx="4434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File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What it is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run.sh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The whole job - Slurm runs this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&lt;phase&gt;.&lt;step&gt;.cmd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Exact command of one step; re-run with bash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&lt;phase&gt;.&lt;step&gt;.log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Output of the step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dv_flow.status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RUNNING, then PASS / FAIL &lt;step&gt; &lt;reason&gt;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test_status.yml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check_log.py verdict and reasons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slurm_&lt;id&gt;.log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Slurm output (batch jobs)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Running the flow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Commands, tests, seeds and phase arguments</a:t>
            </a:r>
            <a:endParaRPr lang="en-US" sz="18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548640" y="914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02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Quick start with the demo model</a:t>
            </a:r>
            <a:endParaRPr lang="en-US" sz="3000" dirty="0"/>
          </a:p>
        </p:txBody>
      </p:sp>
      <p:sp>
        <p:nvSpPr>
          <p:cNvPr id="4" name="quick start code"/>
          <p:cNvSpPr/>
          <p:nvPr/>
        </p:nvSpPr>
        <p:spPr>
          <a:xfrm>
            <a:off x="457200" y="1097280"/>
            <a:ext cx="5120640" cy="3520440"/>
          </a:xfrm>
          <a:prstGeom prst="roundRect">
            <a:avLst>
              <a:gd name="adj" fmla="val 15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ick start code text"/>
          <p:cNvSpPr txBox="1"/>
          <p:nvPr/>
        </p:nvSpPr>
        <p:spPr>
          <a:xfrm>
            <a:off x="594360" y="1207008"/>
            <a:ext cx="484632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once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is defined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dv_flow.py --list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dv_flow.py --list-test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preview, then run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dv_flow.py --model=demo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--testcase=smoke --dry-run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dv_flow.py --model=demo --testcase=all</a:t>
            </a:r>
            <a:endParaRPr lang="en-US" sz="1200" dirty="0"/>
          </a:p>
        </p:txBody>
      </p:sp>
      <p:sp>
        <p:nvSpPr>
          <p:cNvPr id="6" name="tip 1"/>
          <p:cNvSpPr/>
          <p:nvPr/>
        </p:nvSpPr>
        <p:spPr>
          <a:xfrm>
            <a:off x="5852160" y="109728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ip title 1"/>
          <p:cNvSpPr txBox="1"/>
          <p:nvPr/>
        </p:nvSpPr>
        <p:spPr>
          <a:xfrm>
            <a:off x="6035040" y="1207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Sample: example/</a:t>
            </a:r>
            <a:endParaRPr lang="en-US" sz="1500" dirty="0"/>
          </a:p>
        </p:txBody>
      </p:sp>
      <p:sp>
        <p:nvSpPr>
          <p:cNvPr id="8" name="tip text 1"/>
          <p:cNvSpPr txBox="1"/>
          <p:nvPr/>
        </p:nvSpPr>
        <p:spPr>
          <a:xfrm>
            <a:off x="6035040" y="1554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Used when there is no ./config.yml. Copy it for your project, run with -c</a:t>
            </a:r>
            <a:endParaRPr lang="en-US" sz="1200" dirty="0"/>
          </a:p>
        </p:txBody>
      </p:sp>
      <p:sp>
        <p:nvSpPr>
          <p:cNvPr id="9" name="tip 2"/>
          <p:cNvSpPr/>
          <p:nvPr/>
        </p:nvSpPr>
        <p:spPr>
          <a:xfrm>
            <a:off x="5852160" y="228600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ip title 2"/>
          <p:cNvSpPr txBox="1"/>
          <p:nvPr/>
        </p:nvSpPr>
        <p:spPr>
          <a:xfrm>
            <a:off x="6035040" y="2395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--dry-run first</a:t>
            </a:r>
            <a:endParaRPr lang="en-US" sz="1500" dirty="0"/>
          </a:p>
        </p:txBody>
      </p:sp>
      <p:sp>
        <p:nvSpPr>
          <p:cNvPr id="11" name="tip text 2"/>
          <p:cNvSpPr txBox="1"/>
          <p:nvPr/>
        </p:nvSpPr>
        <p:spPr>
          <a:xfrm>
            <a:off x="6035040" y="2743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Prints every command and Slurm submission; writes nothing</a:t>
            </a:r>
            <a:endParaRPr lang="en-US" sz="1200" dirty="0"/>
          </a:p>
        </p:txBody>
      </p:sp>
      <p:sp>
        <p:nvSpPr>
          <p:cNvPr id="12" name="tip 3"/>
          <p:cNvSpPr/>
          <p:nvPr/>
        </p:nvSpPr>
        <p:spPr>
          <a:xfrm>
            <a:off x="5852160" y="347472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ip title 3"/>
          <p:cNvSpPr txBox="1"/>
          <p:nvPr/>
        </p:nvSpPr>
        <p:spPr>
          <a:xfrm>
            <a:off x="6035040" y="3584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--list</a:t>
            </a:r>
            <a:endParaRPr lang="en-US" sz="1500" dirty="0"/>
          </a:p>
        </p:txBody>
      </p:sp>
      <p:sp>
        <p:nvSpPr>
          <p:cNvPr id="14" name="tip text 3"/>
          <p:cNvSpPr txBox="1"/>
          <p:nvPr/>
        </p:nvSpPr>
        <p:spPr>
          <a:xfrm>
            <a:off x="603504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Shows what the flow sees after rendering and merging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Adding your design in four steps</a:t>
            </a:r>
            <a:endParaRPr lang="en-US" sz="3000" dirty="0"/>
          </a:p>
        </p:txBody>
      </p:sp>
      <p:sp>
        <p:nvSpPr>
          <p:cNvPr id="4" name="design step 1"/>
          <p:cNvSpPr/>
          <p:nvPr/>
        </p:nvSpPr>
        <p:spPr>
          <a:xfrm>
            <a:off x="457200" y="109728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design step 1 badge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esign step 1 badge text"/>
          <p:cNvSpPr txBox="1"/>
          <p:nvPr/>
        </p:nvSpPr>
        <p:spPr>
          <a:xfrm>
            <a:off x="5943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design step title 1"/>
          <p:cNvSpPr txBox="1"/>
          <p:nvPr/>
        </p:nvSpPr>
        <p:spPr>
          <a:xfrm>
            <a:off x="109728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File list</a:t>
            </a:r>
            <a:endParaRPr lang="en-US" sz="1500" dirty="0"/>
          </a:p>
        </p:txBody>
      </p:sp>
      <p:sp>
        <p:nvSpPr>
          <p:cNvPr id="8" name="design step code 1"/>
          <p:cNvSpPr/>
          <p:nvPr/>
        </p:nvSpPr>
        <p:spPr>
          <a:xfrm>
            <a:off x="566928" y="1828800"/>
            <a:ext cx="1700784" cy="2423160"/>
          </a:xfrm>
          <a:prstGeom prst="roundRect">
            <a:avLst>
              <a:gd name="adj" fmla="val 32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design step code 1 text"/>
          <p:cNvSpPr txBox="1"/>
          <p:nvPr/>
        </p:nvSpPr>
        <p:spPr>
          <a:xfrm>
            <a:off x="704088" y="1938528"/>
            <a:ext cx="1426464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my_dut/filelist.f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RTL, TB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+incdir+ lines</a:t>
            </a:r>
            <a:endParaRPr lang="en-US" sz="900" dirty="0"/>
          </a:p>
        </p:txBody>
      </p:sp>
      <p:sp>
        <p:nvSpPr>
          <p:cNvPr id="10" name="design step 2"/>
          <p:cNvSpPr/>
          <p:nvPr/>
        </p:nvSpPr>
        <p:spPr>
          <a:xfrm>
            <a:off x="2560320" y="109728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design step 2 badge"/>
          <p:cNvSpPr/>
          <p:nvPr/>
        </p:nvSpPr>
        <p:spPr>
          <a:xfrm>
            <a:off x="2697480" y="1234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design step 2 badge text"/>
          <p:cNvSpPr txBox="1"/>
          <p:nvPr/>
        </p:nvSpPr>
        <p:spPr>
          <a:xfrm>
            <a:off x="26974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design step title 2"/>
          <p:cNvSpPr txBox="1"/>
          <p:nvPr/>
        </p:nvSpPr>
        <p:spPr>
          <a:xfrm>
            <a:off x="320040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</a:t>
            </a:r>
            <a:endParaRPr lang="en-US" sz="1500" dirty="0"/>
          </a:p>
        </p:txBody>
      </p:sp>
      <p:sp>
        <p:nvSpPr>
          <p:cNvPr id="14" name="design step code 2"/>
          <p:cNvSpPr/>
          <p:nvPr/>
        </p:nvSpPr>
        <p:spPr>
          <a:xfrm>
            <a:off x="2670048" y="1828800"/>
            <a:ext cx="1700784" cy="2423160"/>
          </a:xfrm>
          <a:prstGeom prst="roundRect">
            <a:avLst>
              <a:gd name="adj" fmla="val 32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design step code 2 text"/>
          <p:cNvSpPr txBox="1"/>
          <p:nvPr/>
        </p:nvSpPr>
        <p:spPr>
          <a:xfrm>
            <a:off x="2807208" y="1938528"/>
            <a:ext cx="1426464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my_dut: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extends: vcs_base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testlist: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testlists/my.yml</a:t>
            </a:r>
            <a:endParaRPr lang="en-US" sz="900" dirty="0"/>
          </a:p>
        </p:txBody>
      </p:sp>
      <p:sp>
        <p:nvSpPr>
          <p:cNvPr id="16" name="design step 3"/>
          <p:cNvSpPr/>
          <p:nvPr/>
        </p:nvSpPr>
        <p:spPr>
          <a:xfrm>
            <a:off x="4663440" y="109728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design step 3 badge"/>
          <p:cNvSpPr/>
          <p:nvPr/>
        </p:nvSpPr>
        <p:spPr>
          <a:xfrm>
            <a:off x="4800600" y="1234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design step 3 badge text"/>
          <p:cNvSpPr txBox="1"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design step title 3"/>
          <p:cNvSpPr txBox="1"/>
          <p:nvPr/>
        </p:nvSpPr>
        <p:spPr>
          <a:xfrm>
            <a:off x="530352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 list</a:t>
            </a:r>
            <a:endParaRPr lang="en-US" sz="1500" dirty="0"/>
          </a:p>
        </p:txBody>
      </p:sp>
      <p:sp>
        <p:nvSpPr>
          <p:cNvPr id="20" name="design step code 3"/>
          <p:cNvSpPr/>
          <p:nvPr/>
        </p:nvSpPr>
        <p:spPr>
          <a:xfrm>
            <a:off x="4773168" y="1828800"/>
            <a:ext cx="1700784" cy="2423160"/>
          </a:xfrm>
          <a:prstGeom prst="roundRect">
            <a:avLst>
              <a:gd name="adj" fmla="val 32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design step code 3 text"/>
          <p:cNvSpPr txBox="1"/>
          <p:nvPr/>
        </p:nvSpPr>
        <p:spPr>
          <a:xfrm>
            <a:off x="4910328" y="1938528"/>
            <a:ext cx="1426464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testcase: smoke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testname: my_test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phase_args: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sim: +X=1</a:t>
            </a:r>
            <a:endParaRPr lang="en-US" sz="900" dirty="0"/>
          </a:p>
        </p:txBody>
      </p:sp>
      <p:sp>
        <p:nvSpPr>
          <p:cNvPr id="22" name="design step 4"/>
          <p:cNvSpPr/>
          <p:nvPr/>
        </p:nvSpPr>
        <p:spPr>
          <a:xfrm>
            <a:off x="6766560" y="1097280"/>
            <a:ext cx="1920240" cy="32918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design step 4 badge"/>
          <p:cNvSpPr/>
          <p:nvPr/>
        </p:nvSpPr>
        <p:spPr>
          <a:xfrm>
            <a:off x="6903720" y="1234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design step 4 badge text"/>
          <p:cNvSpPr txBox="1"/>
          <p:nvPr/>
        </p:nvSpPr>
        <p:spPr>
          <a:xfrm>
            <a:off x="69037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design step title 4"/>
          <p:cNvSpPr txBox="1"/>
          <p:nvPr/>
        </p:nvSpPr>
        <p:spPr>
          <a:xfrm>
            <a:off x="740664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</a:t>
            </a:r>
            <a:endParaRPr lang="en-US" sz="1500" dirty="0"/>
          </a:p>
        </p:txBody>
      </p:sp>
      <p:sp>
        <p:nvSpPr>
          <p:cNvPr id="26" name="design step code 4"/>
          <p:cNvSpPr/>
          <p:nvPr/>
        </p:nvSpPr>
        <p:spPr>
          <a:xfrm>
            <a:off x="6876288" y="1828800"/>
            <a:ext cx="1700784" cy="2423160"/>
          </a:xfrm>
          <a:prstGeom prst="roundRect">
            <a:avLst>
              <a:gd name="adj" fmla="val 32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design step code 4 text"/>
          <p:cNvSpPr txBox="1"/>
          <p:nvPr/>
        </p:nvSpPr>
        <p:spPr>
          <a:xfrm>
            <a:off x="7013448" y="1938528"/>
            <a:ext cx="1426464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--model=my_dut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--model=my_dut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--testcase=smoke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Selecting tests, seeds and runs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--testcase=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Selects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smoke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testcase smoke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smoke,reg_access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Both testcases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regression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Every test in that section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"rand_*"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Every test matching the glob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whole test list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eed card 1"/>
          <p:cNvSpPr/>
          <p:nvPr/>
        </p:nvSpPr>
        <p:spPr>
          <a:xfrm>
            <a:off x="4937760" y="1097280"/>
            <a:ext cx="3749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eed title 1"/>
          <p:cNvSpPr txBox="1"/>
          <p:nvPr/>
        </p:nvSpPr>
        <p:spPr>
          <a:xfrm>
            <a:off x="512064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seed: 5  count: 3</a:t>
            </a:r>
            <a:endParaRPr lang="en-US" sz="1400" dirty="0"/>
          </a:p>
        </p:txBody>
      </p:sp>
      <p:sp>
        <p:nvSpPr>
          <p:cNvPr id="7" name="seed text 1"/>
          <p:cNvSpPr txBox="1"/>
          <p:nvPr/>
        </p:nvSpPr>
        <p:spPr>
          <a:xfrm>
            <a:off x="51206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runs seeds 5, 6, 7</a:t>
            </a:r>
            <a:endParaRPr lang="en-US" sz="1300" dirty="0"/>
          </a:p>
        </p:txBody>
      </p:sp>
      <p:sp>
        <p:nvSpPr>
          <p:cNvPr id="8" name="seed card 2"/>
          <p:cNvSpPr/>
          <p:nvPr/>
        </p:nvSpPr>
        <p:spPr>
          <a:xfrm>
            <a:off x="4937760" y="2121408"/>
            <a:ext cx="3749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eed title 2"/>
          <p:cNvSpPr txBox="1"/>
          <p:nvPr/>
        </p:nvSpPr>
        <p:spPr>
          <a:xfrm>
            <a:off x="5120640" y="22311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seed: random</a:t>
            </a:r>
            <a:endParaRPr lang="en-US" sz="1400" dirty="0"/>
          </a:p>
        </p:txBody>
      </p:sp>
      <p:sp>
        <p:nvSpPr>
          <p:cNvPr id="10" name="seed text 2"/>
          <p:cNvSpPr txBox="1"/>
          <p:nvPr/>
        </p:nvSpPr>
        <p:spPr>
          <a:xfrm>
            <a:off x="5120640" y="2578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 random seed per run</a:t>
            </a:r>
            <a:endParaRPr lang="en-US" sz="1300" dirty="0"/>
          </a:p>
        </p:txBody>
      </p:sp>
      <p:sp>
        <p:nvSpPr>
          <p:cNvPr id="11" name="seed card 3"/>
          <p:cNvSpPr/>
          <p:nvPr/>
        </p:nvSpPr>
        <p:spPr>
          <a:xfrm>
            <a:off x="4937760" y="3145536"/>
            <a:ext cx="37490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eed title 3"/>
          <p:cNvSpPr txBox="1"/>
          <p:nvPr/>
        </p:nvSpPr>
        <p:spPr>
          <a:xfrm>
            <a:off x="5120640" y="3255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--seed=7 --count=2</a:t>
            </a:r>
            <a:endParaRPr lang="en-US" sz="1400" dirty="0"/>
          </a:p>
        </p:txBody>
      </p:sp>
      <p:sp>
        <p:nvSpPr>
          <p:cNvPr id="13" name="seed text 3"/>
          <p:cNvSpPr txBox="1"/>
          <p:nvPr/>
        </p:nvSpPr>
        <p:spPr>
          <a:xfrm>
            <a:off x="5120640" y="3602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override for every selected test</a:t>
            </a:r>
            <a:endParaRPr lang="en-US" sz="1300" dirty="0"/>
          </a:p>
        </p:txBody>
      </p:sp>
      <p:sp>
        <p:nvSpPr>
          <p:cNvPr id="14" name="seed note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The seed is {{ seed }} in the config, part of the run directory and of the Slurm job name.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Phase arguments: add or replace anything</a:t>
            </a:r>
            <a:endParaRPr lang="en-US" sz="3000" dirty="0"/>
          </a:p>
        </p:txBody>
      </p:sp>
      <p:sp>
        <p:nvSpPr>
          <p:cNvPr id="4" name="syntax panel"/>
          <p:cNvSpPr/>
          <p:nvPr/>
        </p:nvSpPr>
        <p:spPr>
          <a:xfrm>
            <a:off x="457200" y="1051560"/>
            <a:ext cx="822960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yntax panel text"/>
          <p:cNvSpPr txBox="1"/>
          <p:nvPr/>
        </p:nvSpPr>
        <p:spPr>
          <a:xfrm>
            <a:off x="594360" y="1161288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 "PHASE[.pre|main|post][.cmd|opts|args]=VALUE"      += appends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Command line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Effect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-a "sim+=+my_arg=5"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Extra sim args, appended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-a "compile.opts+=+define+FAST"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Append to compile opts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-a "compile.args=-f my.f"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Replace compile args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-a "sim.pre.args+=extra"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Append to the sim pre_phase args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-a "sim.post.cmd="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Empty cmd: skip the sim post step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warning card"/>
          <p:cNvSpPr/>
          <p:nvPr/>
        </p:nvSpPr>
        <p:spPr>
          <a:xfrm>
            <a:off x="6126480" y="173736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warning title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Careful with =</a:t>
            </a:r>
            <a:endParaRPr lang="en-US" sz="1500" dirty="0"/>
          </a:p>
        </p:txBody>
      </p:sp>
      <p:sp>
        <p:nvSpPr>
          <p:cNvPr id="9" name="warning text"/>
          <p:cNvSpPr txBox="1"/>
          <p:nvPr/>
        </p:nvSpPr>
        <p:spPr>
          <a:xfrm>
            <a:off x="6309360" y="228600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Replacing sim opts drops the seed, quit count and coverage options. Prefer += unless you want to start from scratch.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Advanced configuration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Hierarchy, anchors, variables and PASS/FAIL checking</a:t>
            </a:r>
            <a:endParaRPr lang="en-US" sz="18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548640" y="914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03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Master and project files</a:t>
            </a:r>
            <a:endParaRPr lang="en-US" sz="3000" dirty="0"/>
          </a:p>
        </p:txBody>
      </p:sp>
      <p:sp>
        <p:nvSpPr>
          <p:cNvPr id="4" name="master 1"/>
          <p:cNvSpPr/>
          <p:nvPr/>
        </p:nvSpPr>
        <p:spPr>
          <a:xfrm>
            <a:off x="457200" y="1143000"/>
            <a:ext cx="301752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aster title 1"/>
          <p:cNvSpPr txBox="1"/>
          <p:nvPr/>
        </p:nvSpPr>
        <p:spPr>
          <a:xfrm>
            <a:off x="621792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common/master_config.yml</a:t>
            </a:r>
            <a:endParaRPr lang="en-US" sz="1300" dirty="0"/>
          </a:p>
        </p:txBody>
      </p:sp>
      <p:sp>
        <p:nvSpPr>
          <p:cNvPr id="6" name="master text 1"/>
          <p:cNvSpPr txBox="1"/>
          <p:nvPr/>
        </p:nvSpPr>
        <p:spPr>
          <a:xfrm>
            <a:off x="621792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variables, phases, slurm, anchors</a:t>
            </a:r>
            <a:endParaRPr lang="en-US" sz="1300" dirty="0"/>
          </a:p>
        </p:txBody>
      </p:sp>
      <p:sp>
        <p:nvSpPr>
          <p:cNvPr id="7" name="include arrow 1"/>
          <p:cNvSpPr/>
          <p:nvPr/>
        </p:nvSpPr>
        <p:spPr>
          <a:xfrm>
            <a:off x="3611880" y="1554480"/>
            <a:ext cx="54864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master 2"/>
          <p:cNvSpPr/>
          <p:nvPr/>
        </p:nvSpPr>
        <p:spPr>
          <a:xfrm>
            <a:off x="457200" y="2606040"/>
            <a:ext cx="301752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master title 2"/>
          <p:cNvSpPr txBox="1"/>
          <p:nvPr/>
        </p:nvSpPr>
        <p:spPr>
          <a:xfrm>
            <a:off x="621792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testlists/common_tests.yml</a:t>
            </a:r>
            <a:endParaRPr lang="en-US" sz="1300" dirty="0"/>
          </a:p>
        </p:txBody>
      </p:sp>
      <p:sp>
        <p:nvSpPr>
          <p:cNvPr id="10" name="master text 2"/>
          <p:cNvSpPr txBox="1"/>
          <p:nvPr/>
        </p:nvSpPr>
        <p:spPr>
          <a:xfrm>
            <a:off x="621792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variables, section defaults</a:t>
            </a:r>
            <a:endParaRPr lang="en-US" sz="1300" dirty="0"/>
          </a:p>
        </p:txBody>
      </p:sp>
      <p:sp>
        <p:nvSpPr>
          <p:cNvPr id="11" name="include arrow 2"/>
          <p:cNvSpPr/>
          <p:nvPr/>
        </p:nvSpPr>
        <p:spPr>
          <a:xfrm>
            <a:off x="3611880" y="3017520"/>
            <a:ext cx="54864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project 1"/>
          <p:cNvSpPr/>
          <p:nvPr/>
        </p:nvSpPr>
        <p:spPr>
          <a:xfrm>
            <a:off x="4297680" y="1143000"/>
            <a:ext cx="43891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project title 1"/>
          <p:cNvSpPr txBox="1"/>
          <p:nvPr/>
        </p:nvSpPr>
        <p:spPr>
          <a:xfrm>
            <a:off x="448056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config.yml</a:t>
            </a:r>
            <a:endParaRPr lang="en-US" sz="1300" dirty="0"/>
          </a:p>
        </p:txBody>
      </p:sp>
      <p:sp>
        <p:nvSpPr>
          <p:cNvPr id="14" name="project text 1"/>
          <p:cNvSpPr txBox="1"/>
          <p:nvPr/>
        </p:nvSpPr>
        <p:spPr>
          <a:xfrm>
            <a:off x="44805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include 'common/master_config.yml' %}</a:t>
            </a:r>
            <a:endParaRPr lang="en-US" sz="1200" dirty="0"/>
          </a:p>
        </p:txBody>
      </p:sp>
      <p:sp>
        <p:nvSpPr>
          <p:cNvPr id="15" name="project 2"/>
          <p:cNvSpPr/>
          <p:nvPr/>
        </p:nvSpPr>
        <p:spPr>
          <a:xfrm>
            <a:off x="4297680" y="2606040"/>
            <a:ext cx="43891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project title 2"/>
          <p:cNvSpPr txBox="1"/>
          <p:nvPr/>
        </p:nvSpPr>
        <p:spPr>
          <a:xfrm>
            <a:off x="4480560" y="2743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testlists/dut_a_tests.yml</a:t>
            </a:r>
            <a:endParaRPr lang="en-US" sz="1300" dirty="0"/>
          </a:p>
        </p:txBody>
      </p:sp>
      <p:sp>
        <p:nvSpPr>
          <p:cNvPr id="17" name="project text 2"/>
          <p:cNvSpPr txBox="1"/>
          <p:nvPr/>
        </p:nvSpPr>
        <p:spPr>
          <a:xfrm>
            <a:off x="4480560" y="3154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include 'common_tests.yml' %}</a:t>
            </a:r>
            <a:endParaRPr lang="en-US" sz="1200" dirty="0"/>
          </a:p>
        </p:txBody>
      </p:sp>
      <p:sp>
        <p:nvSpPr>
          <p:cNvPr id="18" name="hierarchy notes"/>
          <p:cNvSpPr txBox="1"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Include search: file dir, --include-dir, $DV_FLOW_INCLUDE, parent dirs, cwd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variables:, phases:, models:, sections: in both files are merged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Reuse: anchors and extends</a:t>
            </a:r>
            <a:endParaRPr lang="en-US" sz="3000" dirty="0"/>
          </a:p>
        </p:txBody>
      </p:sp>
      <p:sp>
        <p:nvSpPr>
          <p:cNvPr id="4" name="extends heading"/>
          <p:cNvSpPr txBox="1"/>
          <p:nvPr/>
        </p:nvSpPr>
        <p:spPr>
          <a:xfrm>
            <a:off x="457200" y="1051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extends - whole model, deep merge</a:t>
            </a:r>
            <a:endParaRPr lang="en-US" sz="1400" dirty="0"/>
          </a:p>
        </p:txBody>
      </p:sp>
      <p:sp>
        <p:nvSpPr>
          <p:cNvPr id="5" name="extends code"/>
          <p:cNvSpPr/>
          <p:nvPr/>
        </p:nvSpPr>
        <p:spPr>
          <a:xfrm>
            <a:off x="457200" y="1371600"/>
            <a:ext cx="3977640" cy="237744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extends code text"/>
          <p:cNvSpPr txBox="1"/>
          <p:nvPr/>
        </p:nvSpPr>
        <p:spPr>
          <a:xfrm>
            <a:off x="594360" y="1481328"/>
            <a:ext cx="370332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dut_b: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extends: vcs_base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testlist: testlists/b.yml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phases: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phase: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args: -l sim.log +fast</a:t>
            </a:r>
            <a:endParaRPr lang="en-US" sz="1100" dirty="0"/>
          </a:p>
        </p:txBody>
      </p:sp>
      <p:sp>
        <p:nvSpPr>
          <p:cNvPr id="7" name="anchors heading"/>
          <p:cNvSpPr txBox="1"/>
          <p:nvPr/>
        </p:nvSpPr>
        <p:spPr>
          <a:xfrm>
            <a:off x="4709160" y="1051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anchors - single blocks</a:t>
            </a:r>
            <a:endParaRPr lang="en-US" sz="1400" dirty="0"/>
          </a:p>
        </p:txBody>
      </p:sp>
      <p:sp>
        <p:nvSpPr>
          <p:cNvPr id="8" name="anchors code"/>
          <p:cNvSpPr/>
          <p:nvPr/>
        </p:nvSpPr>
        <p:spPr>
          <a:xfrm>
            <a:off x="4709160" y="1371600"/>
            <a:ext cx="3977640" cy="237744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anchors code text"/>
          <p:cNvSpPr txBox="1"/>
          <p:nvPr/>
        </p:nvSpPr>
        <p:spPr>
          <a:xfrm>
            <a:off x="4846320" y="1481328"/>
            <a:ext cx="370332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dut_c: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phases: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compile: *vcs_compile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&lt;&lt;: *vcs_sim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phase: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&lt;&lt;: *vcs_sim_main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args: -l sim.log +c</a:t>
            </a:r>
            <a:endParaRPr lang="en-US" sz="1100" dirty="0"/>
          </a:p>
        </p:txBody>
      </p:sp>
      <p:sp>
        <p:nvSpPr>
          <p:cNvPr id="10" name="anchor rule card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nchor rule"/>
          <p:cNvSpPr txBox="1"/>
          <p:nvPr/>
        </p:nvSpPr>
        <p:spPr>
          <a:xfrm>
            <a:off x="640080" y="40050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&lt;&lt;: merges one level only. Define an anchor above its first use. {{ model }} in a shared block still becomes the model being run.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Variables you will change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Default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out_dir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&lt;proj_root&gt;/out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All outputs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build_dir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&lt;out_dir&gt;/&lt;model&gt;/build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Compile / elab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simv_dir / simv_name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&lt;build_dir&gt; / simv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Simulation executable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debug_tool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dve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dve or verdi (-kdb, -gui=)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verbosity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UVM_MEDIUM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+UVM_VERBOSITY fallback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uvm_max_quit_count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+UVM_MAX_QUIT_COUNT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log_profile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uvm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PASS/FAIL rules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priority card"/>
          <p:cNvSpPr/>
          <p:nvPr/>
        </p:nvSpPr>
        <p:spPr>
          <a:xfrm>
            <a:off x="6217920" y="1051560"/>
            <a:ext cx="2468880" cy="352044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priority title"/>
          <p:cNvSpPr txBox="1"/>
          <p:nvPr/>
        </p:nvSpPr>
        <p:spPr>
          <a:xfrm>
            <a:off x="640080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Priority</a:t>
            </a:r>
            <a:endParaRPr lang="en-US" sz="1500" dirty="0"/>
          </a:p>
        </p:txBody>
      </p:sp>
      <p:sp>
        <p:nvSpPr>
          <p:cNvPr id="7" name="priority 1 badge"/>
          <p:cNvSpPr/>
          <p:nvPr/>
        </p:nvSpPr>
        <p:spPr>
          <a:xfrm>
            <a:off x="6400800" y="1645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riority 1 badge text"/>
          <p:cNvSpPr txBox="1"/>
          <p:nvPr/>
        </p:nvSpPr>
        <p:spPr>
          <a:xfrm>
            <a:off x="6400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priority text 1"/>
          <p:cNvSpPr txBox="1"/>
          <p:nvPr/>
        </p:nvSpPr>
        <p:spPr>
          <a:xfrm>
            <a:off x="685800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--define=KEY=VAL</a:t>
            </a:r>
            <a:endParaRPr lang="en-US" sz="1200" dirty="0"/>
          </a:p>
        </p:txBody>
      </p:sp>
      <p:sp>
        <p:nvSpPr>
          <p:cNvPr id="10" name="priority 2 badge"/>
          <p:cNvSpPr/>
          <p:nvPr/>
        </p:nvSpPr>
        <p:spPr>
          <a:xfrm>
            <a:off x="6400800" y="2331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riority 2 badge text"/>
          <p:cNvSpPr txBox="1"/>
          <p:nvPr/>
        </p:nvSpPr>
        <p:spPr>
          <a:xfrm>
            <a:off x="64008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priority text 2"/>
          <p:cNvSpPr txBox="1"/>
          <p:nvPr/>
        </p:nvSpPr>
        <p:spPr>
          <a:xfrm>
            <a:off x="685800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project variables:</a:t>
            </a:r>
            <a:endParaRPr lang="en-US" sz="1200" dirty="0"/>
          </a:p>
        </p:txBody>
      </p:sp>
      <p:sp>
        <p:nvSpPr>
          <p:cNvPr id="13" name="priority 3 badge"/>
          <p:cNvSpPr/>
          <p:nvPr/>
        </p:nvSpPr>
        <p:spPr>
          <a:xfrm>
            <a:off x="6400800" y="3017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riority 3 badge text"/>
          <p:cNvSpPr txBox="1"/>
          <p:nvPr/>
        </p:nvSpPr>
        <p:spPr>
          <a:xfrm>
            <a:off x="64008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priority text 3"/>
          <p:cNvSpPr txBox="1"/>
          <p:nvPr/>
        </p:nvSpPr>
        <p:spPr>
          <a:xfrm>
            <a:off x="6858000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master variables:</a:t>
            </a:r>
            <a:endParaRPr lang="en-US" sz="1200" dirty="0"/>
          </a:p>
        </p:txBody>
      </p:sp>
      <p:sp>
        <p:nvSpPr>
          <p:cNvPr id="16" name="priority 4 badge"/>
          <p:cNvSpPr/>
          <p:nvPr/>
        </p:nvSpPr>
        <p:spPr>
          <a:xfrm>
            <a:off x="6400800" y="3703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riority 4 badge text"/>
          <p:cNvSpPr txBox="1"/>
          <p:nvPr/>
        </p:nvSpPr>
        <p:spPr>
          <a:xfrm>
            <a:off x="64008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priority text 4"/>
          <p:cNvSpPr txBox="1"/>
          <p:nvPr/>
        </p:nvSpPr>
        <p:spPr>
          <a:xfrm>
            <a:off x="685800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built-ins: model, test, seed, env ...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Coverage, debug tool and UVM options</a:t>
            </a:r>
            <a:endParaRPr lang="en-US" sz="3000" dirty="0"/>
          </a:p>
        </p:txBody>
      </p:sp>
      <p:sp>
        <p:nvSpPr>
          <p:cNvPr id="4" name="option card 1"/>
          <p:cNvSpPr/>
          <p:nvPr/>
        </p:nvSpPr>
        <p:spPr>
          <a:xfrm>
            <a:off x="457200" y="1097280"/>
            <a:ext cx="2606040" cy="34747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option 1 badge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option 1 badge text"/>
          <p:cNvSpPr txBox="1"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7" name="option title 1"/>
          <p:cNvSpPr txBox="1"/>
          <p:nvPr/>
        </p:nvSpPr>
        <p:spPr>
          <a:xfrm>
            <a:off x="118872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Coverage</a:t>
            </a:r>
            <a:endParaRPr lang="en-US" sz="1500" dirty="0"/>
          </a:p>
        </p:txBody>
      </p:sp>
      <p:sp>
        <p:nvSpPr>
          <p:cNvPr id="8" name="option list 1"/>
          <p:cNvSpPr txBox="1"/>
          <p:nvPr/>
        </p:nvSpPr>
        <p:spPr>
          <a:xfrm>
            <a:off x="640080" y="18288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coverage: true on a test or section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Sim gets -cm ... -cm_name &lt;test&gt;.&lt;seed&gt;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Build compiled with coverage when needed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--define=coverage=false to force off</a:t>
            </a:r>
            <a:endParaRPr lang="en-US" sz="1300" dirty="0"/>
          </a:p>
        </p:txBody>
      </p:sp>
      <p:sp>
        <p:nvSpPr>
          <p:cNvPr id="9" name="option card 2"/>
          <p:cNvSpPr/>
          <p:nvPr/>
        </p:nvSpPr>
        <p:spPr>
          <a:xfrm>
            <a:off x="3291840" y="1097280"/>
            <a:ext cx="2606040" cy="34747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option 2 badge"/>
          <p:cNvSpPr/>
          <p:nvPr/>
        </p:nvSpPr>
        <p:spPr>
          <a:xfrm>
            <a:off x="3474720" y="12344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option 2 badge text"/>
          <p:cNvSpPr txBox="1"/>
          <p:nvPr/>
        </p:nvSpPr>
        <p:spPr>
          <a:xfrm>
            <a:off x="34747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2" name="option title 2"/>
          <p:cNvSpPr txBox="1"/>
          <p:nvPr/>
        </p:nvSpPr>
        <p:spPr>
          <a:xfrm>
            <a:off x="40233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Debug and GUI</a:t>
            </a:r>
            <a:endParaRPr lang="en-US" sz="1500" dirty="0"/>
          </a:p>
        </p:txBody>
      </p:sp>
      <p:sp>
        <p:nvSpPr>
          <p:cNvPr id="13" name="option list 2"/>
          <p:cNvSpPr txBox="1"/>
          <p:nvPr/>
        </p:nvSpPr>
        <p:spPr>
          <a:xfrm>
            <a:off x="3474720" y="18288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debug_tool: dve (default) or verdi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verdi adds -kdb to vlogan and vcs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--gui adds -gui=&lt;debug_tool&gt;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 --slurm --mode=interactive --gui</a:t>
            </a:r>
            <a:endParaRPr lang="en-US" sz="1300" dirty="0"/>
          </a:p>
        </p:txBody>
      </p:sp>
      <p:sp>
        <p:nvSpPr>
          <p:cNvPr id="14" name="option card 3"/>
          <p:cNvSpPr/>
          <p:nvPr/>
        </p:nvSpPr>
        <p:spPr>
          <a:xfrm>
            <a:off x="6126480" y="1097280"/>
            <a:ext cx="2606040" cy="34747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option 3 badge"/>
          <p:cNvSpPr/>
          <p:nvPr/>
        </p:nvSpPr>
        <p:spPr>
          <a:xfrm>
            <a:off x="6309360" y="12344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option 3 badge text"/>
          <p:cNvSpPr txBox="1"/>
          <p:nvPr/>
        </p:nvSpPr>
        <p:spPr>
          <a:xfrm>
            <a:off x="63093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</a:t>
            </a:r>
            <a:endParaRPr lang="en-US" sz="1300" dirty="0"/>
          </a:p>
        </p:txBody>
      </p:sp>
      <p:sp>
        <p:nvSpPr>
          <p:cNvPr id="17" name="option title 3"/>
          <p:cNvSpPr txBox="1"/>
          <p:nvPr/>
        </p:nvSpPr>
        <p:spPr>
          <a:xfrm>
            <a:off x="685800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UVM options</a:t>
            </a:r>
            <a:endParaRPr lang="en-US" sz="1500" dirty="0"/>
          </a:p>
        </p:txBody>
      </p:sp>
      <p:sp>
        <p:nvSpPr>
          <p:cNvPr id="18" name="option list 3"/>
          <p:cNvSpPr txBox="1"/>
          <p:nvPr/>
        </p:nvSpPr>
        <p:spPr>
          <a:xfrm>
            <a:off x="6309360" y="18288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verbosity: per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max_quit_count: default 10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timeout: +UVM_TIMEOUT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log_profile: PASS/FAIL rules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PASS/FAIL from the simulation log</a:t>
            </a:r>
            <a:endParaRPr lang="en-US" sz="3000" dirty="0"/>
          </a:p>
        </p:txBody>
      </p:sp>
      <p:sp>
        <p:nvSpPr>
          <p:cNvPr id="4" name="rule fail"/>
          <p:cNvSpPr/>
          <p:nvPr/>
        </p:nvSpPr>
        <p:spPr>
          <a:xfrm>
            <a:off x="457200" y="1097280"/>
            <a:ext cx="4206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rule fail badge"/>
          <p:cNvSpPr/>
          <p:nvPr/>
        </p:nvSpPr>
        <p:spPr>
          <a:xfrm>
            <a:off x="594360" y="125272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rule fail badge text"/>
          <p:cNvSpPr txBox="1"/>
          <p:nvPr/>
        </p:nvSpPr>
        <p:spPr>
          <a:xfrm>
            <a:off x="59436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</a:t>
            </a:r>
            <a:endParaRPr lang="en-US" sz="1300" dirty="0"/>
          </a:p>
        </p:txBody>
      </p:sp>
      <p:sp>
        <p:nvSpPr>
          <p:cNvPr id="7" name="rule title fail"/>
          <p:cNvSpPr txBox="1"/>
          <p:nvPr/>
        </p:nvSpPr>
        <p:spPr>
          <a:xfrm>
            <a:off x="1188720" y="1170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fail  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Any match fails the test</a:t>
            </a:r>
            <a:endParaRPr lang="en-US" sz="1400" dirty="0"/>
          </a:p>
        </p:txBody>
      </p:sp>
      <p:sp>
        <p:nvSpPr>
          <p:cNvPr id="8" name="rule text fail"/>
          <p:cNvSpPr txBox="1"/>
          <p:nvPr/>
        </p:nvSpPr>
        <p:spPr>
          <a:xfrm>
            <a:off x="1188720" y="1481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UVM_ERROR : [1-9], UVM_FATAL, Error-[, Offending, segfault</a:t>
            </a:r>
            <a:endParaRPr lang="en-US" sz="1100" dirty="0"/>
          </a:p>
        </p:txBody>
      </p:sp>
      <p:sp>
        <p:nvSpPr>
          <p:cNvPr id="9" name="rule require"/>
          <p:cNvSpPr/>
          <p:nvPr/>
        </p:nvSpPr>
        <p:spPr>
          <a:xfrm>
            <a:off x="457200" y="2011680"/>
            <a:ext cx="4206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rule require badge"/>
          <p:cNvSpPr/>
          <p:nvPr/>
        </p:nvSpPr>
        <p:spPr>
          <a:xfrm>
            <a:off x="594360" y="21671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rule require badge text"/>
          <p:cNvSpPr txBox="1"/>
          <p:nvPr/>
        </p:nvSpPr>
        <p:spPr>
          <a:xfrm>
            <a:off x="59436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</a:t>
            </a:r>
            <a:endParaRPr lang="en-US" sz="1300" dirty="0"/>
          </a:p>
        </p:txBody>
      </p:sp>
      <p:sp>
        <p:nvSpPr>
          <p:cNvPr id="12" name="rule title require"/>
          <p:cNvSpPr txBox="1"/>
          <p:nvPr/>
        </p:nvSpPr>
        <p:spPr>
          <a:xfrm>
            <a:off x="1188720" y="2084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require  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must appear</a:t>
            </a:r>
            <a:endParaRPr lang="en-US" sz="1400" dirty="0"/>
          </a:p>
        </p:txBody>
      </p:sp>
      <p:sp>
        <p:nvSpPr>
          <p:cNvPr id="13" name="rule text require"/>
          <p:cNvSpPr txBox="1"/>
          <p:nvPr/>
        </p:nvSpPr>
        <p:spPr>
          <a:xfrm>
            <a:off x="118872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--- UVM Report Summary ---  (catches crashed or killed sims)</a:t>
            </a:r>
            <a:endParaRPr lang="en-US" sz="1100" dirty="0"/>
          </a:p>
        </p:txBody>
      </p:sp>
      <p:sp>
        <p:nvSpPr>
          <p:cNvPr id="14" name="rule ignore"/>
          <p:cNvSpPr/>
          <p:nvPr/>
        </p:nvSpPr>
        <p:spPr>
          <a:xfrm>
            <a:off x="457200" y="2926080"/>
            <a:ext cx="4206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rule ignore badge"/>
          <p:cNvSpPr/>
          <p:nvPr/>
        </p:nvSpPr>
        <p:spPr>
          <a:xfrm>
            <a:off x="594360" y="308152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rule ignore badge text"/>
          <p:cNvSpPr txBox="1"/>
          <p:nvPr/>
        </p:nvSpPr>
        <p:spPr>
          <a:xfrm>
            <a:off x="59436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</a:t>
            </a:r>
            <a:endParaRPr lang="en-US" sz="1300" dirty="0"/>
          </a:p>
        </p:txBody>
      </p:sp>
      <p:sp>
        <p:nvSpPr>
          <p:cNvPr id="17" name="rule title ignore"/>
          <p:cNvSpPr txBox="1"/>
          <p:nvPr/>
        </p:nvSpPr>
        <p:spPr>
          <a:xfrm>
            <a:off x="1188720" y="29992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ignore  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Waivers</a:t>
            </a:r>
            <a:endParaRPr lang="en-US" sz="1400" dirty="0"/>
          </a:p>
        </p:txBody>
      </p:sp>
      <p:sp>
        <p:nvSpPr>
          <p:cNvPr id="18" name="rule text ignore"/>
          <p:cNvSpPr txBox="1"/>
          <p:nvPr/>
        </p:nvSpPr>
        <p:spPr>
          <a:xfrm>
            <a:off x="1188720" y="3310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Lines matching are skipped, e.g. known_bug_42</a:t>
            </a:r>
            <a:endParaRPr lang="en-US" sz="1100" dirty="0"/>
          </a:p>
        </p:txBody>
      </p:sp>
      <p:sp>
        <p:nvSpPr>
          <p:cNvPr id="19" name="status code"/>
          <p:cNvSpPr/>
          <p:nvPr/>
        </p:nvSpPr>
        <p:spPr>
          <a:xfrm>
            <a:off x="4937760" y="1097280"/>
            <a:ext cx="3749040" cy="2423160"/>
          </a:xfrm>
          <a:prstGeom prst="roundRect">
            <a:avLst>
              <a:gd name="adj" fmla="val 22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tatus code text"/>
          <p:cNvSpPr txBox="1"/>
          <p:nvPr/>
        </p:nvSpPr>
        <p:spPr>
          <a:xfrm>
            <a:off x="5074920" y="1207008"/>
            <a:ext cx="347472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test_status.yml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FAIL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fail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'UVM_ERROR...' matched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1x (first at line 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 reg_reset.1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profile: uvm</a:t>
            </a:r>
            <a:endParaRPr lang="en-US" sz="1100" dirty="0"/>
          </a:p>
        </p:txBody>
      </p:sp>
      <p:sp>
        <p:nvSpPr>
          <p:cNvPr id="21" name="profiles note"/>
          <p:cNvSpPr txBox="1"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Profiles: uvm, uvm_verdict (requires TEST PASSED), uvm_expect_errors, demo. Add one-off patterns with -a "sim.post.opts+=--require 'TEST PASSED'".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Slurm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Batch, interactive, tracking and time limits</a:t>
            </a:r>
            <a:endParaRPr lang="en-US" sz="18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548640" y="914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04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Batch or interactive</a:t>
            </a:r>
            <a:endParaRPr lang="en-US" sz="3000" dirty="0"/>
          </a:p>
        </p:txBody>
      </p:sp>
      <p:sp>
        <p:nvSpPr>
          <p:cNvPr id="4" name="mode batch"/>
          <p:cNvSpPr/>
          <p:nvPr/>
        </p:nvSpPr>
        <p:spPr>
          <a:xfrm>
            <a:off x="45720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mode title batch"/>
          <p:cNvSpPr txBox="1"/>
          <p:nvPr/>
        </p:nvSpPr>
        <p:spPr>
          <a:xfrm>
            <a:off x="64008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batch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sbatch</a:t>
            </a:r>
            <a:endParaRPr lang="en-US" sz="1800" dirty="0"/>
          </a:p>
        </p:txBody>
      </p:sp>
      <p:sp>
        <p:nvSpPr>
          <p:cNvPr id="6" name="mode list batch"/>
          <p:cNvSpPr txBox="1"/>
          <p:nvPr/>
        </p:nvSpPr>
        <p:spPr>
          <a:xfrm>
            <a:off x="640080" y="16916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jobs submitted at once, run in parallel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Tests wait for the build (afterok)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--wait to block until results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Manifest saved for --track</a:t>
            </a:r>
            <a:endParaRPr lang="en-US" sz="1300" dirty="0"/>
          </a:p>
        </p:txBody>
      </p:sp>
      <p:sp>
        <p:nvSpPr>
          <p:cNvPr id="7" name="mode code batch"/>
          <p:cNvSpPr/>
          <p:nvPr/>
        </p:nvSpPr>
        <p:spPr>
          <a:xfrm>
            <a:off x="640080" y="3520440"/>
            <a:ext cx="3611880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mode code batch text"/>
          <p:cNvSpPr txBox="1"/>
          <p:nvPr/>
        </p:nvSpPr>
        <p:spPr>
          <a:xfrm>
            <a:off x="777240" y="3630168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--testcase=regression --slurm --wait</a:t>
            </a:r>
            <a:endParaRPr lang="en-US" sz="1000" dirty="0"/>
          </a:p>
        </p:txBody>
      </p:sp>
      <p:sp>
        <p:nvSpPr>
          <p:cNvPr id="9" name="mode interactive"/>
          <p:cNvSpPr/>
          <p:nvPr/>
        </p:nvSpPr>
        <p:spPr>
          <a:xfrm>
            <a:off x="470916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mode title interactive"/>
          <p:cNvSpPr txBox="1"/>
          <p:nvPr/>
        </p:nvSpPr>
        <p:spPr>
          <a:xfrm>
            <a:off x="489204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interactive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srun --pty</a:t>
            </a:r>
            <a:endParaRPr lang="en-US" sz="1800" dirty="0"/>
          </a:p>
        </p:txBody>
      </p:sp>
      <p:sp>
        <p:nvSpPr>
          <p:cNvPr id="11" name="mode list interactive"/>
          <p:cNvSpPr txBox="1"/>
          <p:nvPr/>
        </p:nvSpPr>
        <p:spPr>
          <a:xfrm>
            <a:off x="4892040" y="16916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job at a time in your terminal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dv_flow waits for each job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 with --gui (X11)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Good for debugging one test</a:t>
            </a:r>
            <a:endParaRPr lang="en-US" sz="1300" dirty="0"/>
          </a:p>
        </p:txBody>
      </p:sp>
      <p:sp>
        <p:nvSpPr>
          <p:cNvPr id="12" name="mode code interactive"/>
          <p:cNvSpPr/>
          <p:nvPr/>
        </p:nvSpPr>
        <p:spPr>
          <a:xfrm>
            <a:off x="4892040" y="3520440"/>
            <a:ext cx="3611880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mode code interactive text"/>
          <p:cNvSpPr txBox="1"/>
          <p:nvPr/>
        </p:nvSpPr>
        <p:spPr>
          <a:xfrm>
            <a:off x="5029200" y="3630168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--phase=sim --testcase=smoke --slurm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--mode=interactive --gui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gets submitted</a:t>
            </a:r>
            <a:endParaRPr lang="en-US" sz="3000" dirty="0"/>
          </a:p>
        </p:txBody>
      </p:sp>
      <p:sp>
        <p:nvSpPr>
          <p:cNvPr id="4" name="sbatch code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batch code text"/>
          <p:cNvSpPr txBox="1"/>
          <p:nvPr/>
        </p:nvSpPr>
        <p:spPr>
          <a:xfrm>
            <a:off x="594360" y="1207008"/>
            <a:ext cx="7955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sbatch --parsable -J dut_a_smoke_test.1.20261011_223055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--chdir=out/dut_a/tests/smoke.1 --partition=dv --time=01:00:00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--mem=8G --cpus-per-task=2 --output=out/dut_a/tests/smoke.1/slurm_%j.log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--dependency=afterok:&lt;build id&gt; --kill-on-invalid-dep=yes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out/dut_a/tests/smoke.1/run.sh</a:t>
            </a:r>
            <a:endParaRPr lang="en-US" sz="1200" dirty="0"/>
          </a:p>
        </p:txBody>
      </p:sp>
      <p:sp>
        <p:nvSpPr>
          <p:cNvPr id="6" name="submit card 1"/>
          <p:cNvSpPr/>
          <p:nvPr/>
        </p:nvSpPr>
        <p:spPr>
          <a:xfrm>
            <a:off x="45720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ubmit title 1"/>
          <p:cNvSpPr txBox="1"/>
          <p:nvPr/>
        </p:nvSpPr>
        <p:spPr>
          <a:xfrm>
            <a:off x="594360" y="3273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Job name</a:t>
            </a:r>
            <a:endParaRPr lang="en-US" sz="1400" dirty="0"/>
          </a:p>
        </p:txBody>
      </p:sp>
      <p:sp>
        <p:nvSpPr>
          <p:cNvPr id="8" name="submit text 1"/>
          <p:cNvSpPr txBox="1"/>
          <p:nvPr/>
        </p:nvSpPr>
        <p:spPr>
          <a:xfrm>
            <a:off x="594360" y="36576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&lt;testname&gt;.&lt;seed&gt;.&lt;time&gt;</a:t>
            </a:r>
            <a:endParaRPr lang="en-US" sz="1200" dirty="0"/>
          </a:p>
        </p:txBody>
      </p:sp>
      <p:sp>
        <p:nvSpPr>
          <p:cNvPr id="9" name="submit card 2"/>
          <p:cNvSpPr/>
          <p:nvPr/>
        </p:nvSpPr>
        <p:spPr>
          <a:xfrm>
            <a:off x="256032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ubmit title 2"/>
          <p:cNvSpPr txBox="1"/>
          <p:nvPr/>
        </p:nvSpPr>
        <p:spPr>
          <a:xfrm>
            <a:off x="2697480" y="3273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Time limit</a:t>
            </a:r>
            <a:endParaRPr lang="en-US" sz="1400" dirty="0"/>
          </a:p>
        </p:txBody>
      </p:sp>
      <p:sp>
        <p:nvSpPr>
          <p:cNvPr id="11" name="submit text 2"/>
          <p:cNvSpPr txBox="1"/>
          <p:nvPr/>
        </p:nvSpPr>
        <p:spPr>
          <a:xfrm>
            <a:off x="2697480" y="36576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--time from slurm_timeout</a:t>
            </a:r>
            <a:endParaRPr lang="en-US" sz="1200" dirty="0"/>
          </a:p>
        </p:txBody>
      </p:sp>
      <p:sp>
        <p:nvSpPr>
          <p:cNvPr id="12" name="submit card 3"/>
          <p:cNvSpPr/>
          <p:nvPr/>
        </p:nvSpPr>
        <p:spPr>
          <a:xfrm>
            <a:off x="466344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ubmit title 3"/>
          <p:cNvSpPr txBox="1"/>
          <p:nvPr/>
        </p:nvSpPr>
        <p:spPr>
          <a:xfrm>
            <a:off x="4800600" y="3273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Dependency</a:t>
            </a:r>
            <a:endParaRPr lang="en-US" sz="1400" dirty="0"/>
          </a:p>
        </p:txBody>
      </p:sp>
      <p:sp>
        <p:nvSpPr>
          <p:cNvPr id="14" name="submit text 3"/>
          <p:cNvSpPr txBox="1"/>
          <p:nvPr/>
        </p:nvSpPr>
        <p:spPr>
          <a:xfrm>
            <a:off x="4800600" y="36576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afterok on the build job</a:t>
            </a:r>
            <a:endParaRPr lang="en-US" sz="1200" dirty="0"/>
          </a:p>
        </p:txBody>
      </p:sp>
      <p:sp>
        <p:nvSpPr>
          <p:cNvPr id="15" name="submit card 4"/>
          <p:cNvSpPr/>
          <p:nvPr/>
        </p:nvSpPr>
        <p:spPr>
          <a:xfrm>
            <a:off x="676656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ubmit title 4"/>
          <p:cNvSpPr txBox="1"/>
          <p:nvPr/>
        </p:nvSpPr>
        <p:spPr>
          <a:xfrm>
            <a:off x="6903720" y="3273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Memory</a:t>
            </a:r>
            <a:endParaRPr lang="en-US" sz="1400" dirty="0"/>
          </a:p>
        </p:txBody>
      </p:sp>
      <p:sp>
        <p:nvSpPr>
          <p:cNvPr id="17" name="submit text 4"/>
          <p:cNvSpPr txBox="1"/>
          <p:nvPr/>
        </p:nvSpPr>
        <p:spPr>
          <a:xfrm>
            <a:off x="6903720" y="36576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slurm.mem, slurm_mem or --slurm-mem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Tracking jobs to PASS/FAIL</a:t>
            </a:r>
            <a:endParaRPr lang="en-US" sz="3000" dirty="0"/>
          </a:p>
        </p:txBody>
      </p:sp>
      <p:sp>
        <p:nvSpPr>
          <p:cNvPr id="4" name="state 1"/>
          <p:cNvSpPr/>
          <p:nvPr/>
        </p:nvSpPr>
        <p:spPr>
          <a:xfrm>
            <a:off x="457200" y="1143000"/>
            <a:ext cx="1783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ate text 1"/>
          <p:cNvSpPr txBox="1"/>
          <p:nvPr/>
        </p:nvSpPr>
        <p:spPr>
          <a:xfrm>
            <a:off x="457200" y="1143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1300" dirty="0"/>
          </a:p>
        </p:txBody>
      </p:sp>
      <p:sp>
        <p:nvSpPr>
          <p:cNvPr id="6" name="state arrow 1"/>
          <p:cNvSpPr/>
          <p:nvPr/>
        </p:nvSpPr>
        <p:spPr>
          <a:xfrm>
            <a:off x="2286000" y="1280160"/>
            <a:ext cx="27432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state 2"/>
          <p:cNvSpPr/>
          <p:nvPr/>
        </p:nvSpPr>
        <p:spPr>
          <a:xfrm>
            <a:off x="2606040" y="1143000"/>
            <a:ext cx="1783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ate text 2"/>
          <p:cNvSpPr txBox="1"/>
          <p:nvPr/>
        </p:nvSpPr>
        <p:spPr>
          <a:xfrm>
            <a:off x="2606040" y="1143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1300" dirty="0"/>
          </a:p>
        </p:txBody>
      </p:sp>
      <p:sp>
        <p:nvSpPr>
          <p:cNvPr id="9" name="state arrow 2"/>
          <p:cNvSpPr/>
          <p:nvPr/>
        </p:nvSpPr>
        <p:spPr>
          <a:xfrm>
            <a:off x="4434840" y="1280160"/>
            <a:ext cx="27432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tate 3"/>
          <p:cNvSpPr/>
          <p:nvPr/>
        </p:nvSpPr>
        <p:spPr>
          <a:xfrm>
            <a:off x="4754880" y="1143000"/>
            <a:ext cx="17830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ate text 3"/>
          <p:cNvSpPr txBox="1"/>
          <p:nvPr/>
        </p:nvSpPr>
        <p:spPr>
          <a:xfrm>
            <a:off x="4754880" y="1143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dv_flow.status</a:t>
            </a:r>
            <a:endParaRPr lang="en-US" sz="1300" dirty="0"/>
          </a:p>
        </p:txBody>
      </p:sp>
      <p:sp>
        <p:nvSpPr>
          <p:cNvPr id="12" name="state arrow 3"/>
          <p:cNvSpPr/>
          <p:nvPr/>
        </p:nvSpPr>
        <p:spPr>
          <a:xfrm>
            <a:off x="6583680" y="1280160"/>
            <a:ext cx="27432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state 4"/>
          <p:cNvSpPr/>
          <p:nvPr/>
        </p:nvSpPr>
        <p:spPr>
          <a:xfrm>
            <a:off x="6903720" y="1143000"/>
            <a:ext cx="178308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ate text 4"/>
          <p:cNvSpPr txBox="1"/>
          <p:nvPr/>
        </p:nvSpPr>
        <p:spPr>
          <a:xfrm>
            <a:off x="6903720" y="1143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/ FAIL</a:t>
            </a:r>
            <a:endParaRPr lang="en-US" sz="1300" dirty="0"/>
          </a:p>
        </p:txBody>
      </p:sp>
      <p:sp>
        <p:nvSpPr>
          <p:cNvPr id="15" name="stat 1"/>
          <p:cNvSpPr txBox="1"/>
          <p:nvPr/>
        </p:nvSpPr>
        <p:spPr>
          <a:xfrm>
            <a:off x="457200" y="1965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30 s</a:t>
            </a:r>
            <a:endParaRPr lang="en-US" sz="4000" dirty="0"/>
          </a:p>
        </p:txBody>
      </p:sp>
      <p:sp>
        <p:nvSpPr>
          <p:cNvPr id="16" name="stat label 1"/>
          <p:cNvSpPr txBox="1"/>
          <p:nvPr/>
        </p:nvSpPr>
        <p:spPr>
          <a:xfrm>
            <a:off x="45720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default poll interval</a:t>
            </a:r>
            <a:endParaRPr lang="en-US" sz="1200" dirty="0"/>
          </a:p>
        </p:txBody>
      </p:sp>
      <p:sp>
        <p:nvSpPr>
          <p:cNvPr id="17" name="stat 2"/>
          <p:cNvSpPr txBox="1"/>
          <p:nvPr/>
        </p:nvSpPr>
        <p:spPr>
          <a:xfrm>
            <a:off x="2057400" y="1965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18" name="stat label 2"/>
          <p:cNvSpPr txBox="1"/>
          <p:nvPr/>
        </p:nvSpPr>
        <p:spPr>
          <a:xfrm>
            <a:off x="205740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squeue call per poll</a:t>
            </a:r>
            <a:endParaRPr lang="en-US" sz="1200" dirty="0"/>
          </a:p>
        </p:txBody>
      </p:sp>
      <p:sp>
        <p:nvSpPr>
          <p:cNvPr id="19" name="stat 3"/>
          <p:cNvSpPr txBox="1"/>
          <p:nvPr/>
        </p:nvSpPr>
        <p:spPr>
          <a:xfrm>
            <a:off x="3657600" y="1965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500</a:t>
            </a:r>
            <a:endParaRPr lang="en-US" sz="4000" dirty="0"/>
          </a:p>
        </p:txBody>
      </p:sp>
      <p:sp>
        <p:nvSpPr>
          <p:cNvPr id="20" name="stat label 3"/>
          <p:cNvSpPr txBox="1"/>
          <p:nvPr/>
        </p:nvSpPr>
        <p:spPr>
          <a:xfrm>
            <a:off x="365760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job ids per call</a:t>
            </a:r>
            <a:endParaRPr lang="en-US" sz="1200" dirty="0"/>
          </a:p>
        </p:txBody>
      </p:sp>
      <p:sp>
        <p:nvSpPr>
          <p:cNvPr id="21" name="track code"/>
          <p:cNvSpPr/>
          <p:nvPr/>
        </p:nvSpPr>
        <p:spPr>
          <a:xfrm>
            <a:off x="5349240" y="1965960"/>
            <a:ext cx="3337560" cy="118872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rack code text"/>
          <p:cNvSpPr txBox="1"/>
          <p:nvPr/>
        </p:nvSpPr>
        <p:spPr>
          <a:xfrm>
            <a:off x="5486400" y="2075688"/>
            <a:ext cx="3063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--slurm --wait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--track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--track &lt;manifest&gt; --wait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--poll=60</a:t>
            </a:r>
            <a:endParaRPr lang="en-US" sz="1200" dirty="0"/>
          </a:p>
        </p:txBody>
      </p:sp>
      <p:sp>
        <p:nvSpPr>
          <p:cNvPr id="23" name="track notes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Result: status file first, then squeue, then sacct (TIMEOUT, CANCELLED, OUT_OF_MEMORY ...)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Exit code: 0 all passed, 1 any failed, 3 still running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Time limits and killed jobs</a:t>
            </a:r>
            <a:endParaRPr lang="en-US" sz="3000" dirty="0"/>
          </a:p>
        </p:txBody>
      </p:sp>
      <p:sp>
        <p:nvSpPr>
          <p:cNvPr id="4" name="limit 1 badg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limit 1 badge text"/>
          <p:cNvSpPr txBox="1"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limit text 1"/>
          <p:cNvSpPr txBox="1"/>
          <p:nvPr/>
        </p:nvSpPr>
        <p:spPr>
          <a:xfrm>
            <a:off x="100584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--slurm-timeout=45m  (whole run)</a:t>
            </a:r>
            <a:endParaRPr lang="en-US" sz="1300" dirty="0"/>
          </a:p>
        </p:txBody>
      </p:sp>
      <p:sp>
        <p:nvSpPr>
          <p:cNvPr id="7" name="limit 2 badge"/>
          <p:cNvSpPr/>
          <p:nvPr/>
        </p:nvSpPr>
        <p:spPr>
          <a:xfrm>
            <a:off x="457200" y="18013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limit 2 badge text"/>
          <p:cNvSpPr txBox="1"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limit text 2"/>
          <p:cNvSpPr txBox="1"/>
          <p:nvPr/>
        </p:nvSpPr>
        <p:spPr>
          <a:xfrm>
            <a:off x="1005840" y="1847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slurm_timeout: 15m  (testcase)</a:t>
            </a:r>
            <a:endParaRPr lang="en-US" sz="1300" dirty="0"/>
          </a:p>
        </p:txBody>
      </p:sp>
      <p:sp>
        <p:nvSpPr>
          <p:cNvPr id="10" name="limit 3 badge"/>
          <p:cNvSpPr/>
          <p:nvPr/>
        </p:nvSpPr>
        <p:spPr>
          <a:xfrm>
            <a:off x="457200" y="245973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limit 3 badge text"/>
          <p:cNvSpPr txBox="1"/>
          <p:nvPr/>
        </p:nvSpPr>
        <p:spPr>
          <a:xfrm>
            <a:off x="457200" y="2459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limit text 3"/>
          <p:cNvSpPr txBox="1"/>
          <p:nvPr/>
        </p:nvSpPr>
        <p:spPr>
          <a:xfrm>
            <a:off x="1005840" y="2505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slurm_timeout: 3h  (section)</a:t>
            </a:r>
            <a:endParaRPr lang="en-US" sz="1300" dirty="0"/>
          </a:p>
        </p:txBody>
      </p:sp>
      <p:sp>
        <p:nvSpPr>
          <p:cNvPr id="13" name="limit 4 badge"/>
          <p:cNvSpPr/>
          <p:nvPr/>
        </p:nvSpPr>
        <p:spPr>
          <a:xfrm>
            <a:off x="457200" y="311810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limit 4 badge text"/>
          <p:cNvSpPr txBox="1"/>
          <p:nvPr/>
        </p:nvSpPr>
        <p:spPr>
          <a:xfrm>
            <a:off x="457200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limit text 4"/>
          <p:cNvSpPr txBox="1"/>
          <p:nvPr/>
        </p:nvSpPr>
        <p:spPr>
          <a:xfrm>
            <a:off x="1005840" y="31638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slurm.timeout: 1h  (default)</a:t>
            </a:r>
            <a:endParaRPr lang="en-US" sz="1300" dirty="0"/>
          </a:p>
        </p:txBody>
      </p:sp>
      <p:sp>
        <p:nvSpPr>
          <p:cNvPr id="16" name="limit formats"/>
          <p:cNvSpPr txBox="1"/>
          <p:nvPr/>
        </p:nvSpPr>
        <p:spPr>
          <a:xfrm>
            <a:off x="45720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Formats: 1h, 90m, 2h30m, 45, 01:30:00, unlimited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143000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happened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Recorded as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scancel / time limit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FAIL &lt;step&gt; killed by SIGTERM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Simulator OOM-killed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FAIL &lt;step&gt; rc=137 (signal KILL)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Whole job SIGKILLed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FAIL (slurm TIMEOUT / NODE_FAIL ...)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Gone without a trace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FAIL (job died)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Waves in DVE on Slurm</a:t>
            </a:r>
            <a:endParaRPr lang="en-US" sz="3000" dirty="0"/>
          </a:p>
        </p:txBody>
      </p:sp>
      <p:sp>
        <p:nvSpPr>
          <p:cNvPr id="4" name="waves card Dump"/>
          <p:cNvSpPr/>
          <p:nvPr/>
        </p:nvSpPr>
        <p:spPr>
          <a:xfrm>
            <a:off x="457200" y="109728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waves Dump badge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waves Dump badge text"/>
          <p:cNvSpPr txBox="1"/>
          <p:nvPr/>
        </p:nvSpPr>
        <p:spPr>
          <a:xfrm>
            <a:off x="5943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waves title Dump"/>
          <p:cNvSpPr txBox="1"/>
          <p:nvPr/>
        </p:nvSpPr>
        <p:spPr>
          <a:xfrm>
            <a:off x="114300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Dump</a:t>
            </a:r>
            <a:endParaRPr lang="en-US" sz="1500" dirty="0"/>
          </a:p>
        </p:txBody>
      </p:sp>
      <p:sp>
        <p:nvSpPr>
          <p:cNvPr id="8" name="waves code Dump"/>
          <p:cNvSpPr/>
          <p:nvPr/>
        </p:nvSpPr>
        <p:spPr>
          <a:xfrm>
            <a:off x="640080" y="1737360"/>
            <a:ext cx="3611880" cy="8229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waves code Dump text"/>
          <p:cNvSpPr txBox="1"/>
          <p:nvPr/>
        </p:nvSpPr>
        <p:spPr>
          <a:xfrm>
            <a:off x="777240" y="184708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list:  waves: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--testcase=smoke --dump-waves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&lt;run_dir&gt;/waves.vpd (VPD)</a:t>
            </a:r>
            <a:endParaRPr lang="en-US" sz="1000" dirty="0"/>
          </a:p>
        </p:txBody>
      </p:sp>
      <p:sp>
        <p:nvSpPr>
          <p:cNvPr id="10" name="waves card Open"/>
          <p:cNvSpPr/>
          <p:nvPr/>
        </p:nvSpPr>
        <p:spPr>
          <a:xfrm>
            <a:off x="457200" y="288036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waves Open badge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waves Open badge text"/>
          <p:cNvSpPr txBox="1"/>
          <p:nvPr/>
        </p:nvSpPr>
        <p:spPr>
          <a:xfrm>
            <a:off x="5943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waves title Open"/>
          <p:cNvSpPr txBox="1"/>
          <p:nvPr/>
        </p:nvSpPr>
        <p:spPr>
          <a:xfrm>
            <a:off x="114300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</a:t>
            </a:r>
            <a:endParaRPr lang="en-US" sz="1500" dirty="0"/>
          </a:p>
        </p:txBody>
      </p:sp>
      <p:sp>
        <p:nvSpPr>
          <p:cNvPr id="14" name="waves code Open"/>
          <p:cNvSpPr/>
          <p:nvPr/>
        </p:nvSpPr>
        <p:spPr>
          <a:xfrm>
            <a:off x="640080" y="3520440"/>
            <a:ext cx="3611880" cy="82296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waves code Open text"/>
          <p:cNvSpPr txBox="1"/>
          <p:nvPr/>
        </p:nvSpPr>
        <p:spPr>
          <a:xfrm>
            <a:off x="777240" y="363016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--testcase=smoke --open-waves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--seed=1  or  --waves-file=PATH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dve -full64 -vpd &lt;file&gt;</a:t>
            </a:r>
            <a:endParaRPr lang="en-US" sz="1000" dirty="0"/>
          </a:p>
        </p:txBody>
      </p:sp>
      <p:sp>
        <p:nvSpPr>
          <p:cNvPr id="16" name="viewer heading"/>
          <p:cNvSpPr txBox="1"/>
          <p:nvPr/>
        </p:nvSpPr>
        <p:spPr>
          <a:xfrm>
            <a:off x="4709160" y="1051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Viewer job settings (master config)</a:t>
            </a:r>
            <a:endParaRPr lang="en-US" sz="1400" dirty="0"/>
          </a:p>
        </p:txBody>
      </p:sp>
      <p:sp>
        <p:nvSpPr>
          <p:cNvPr id="17" name="viewer code"/>
          <p:cNvSpPr/>
          <p:nvPr/>
        </p:nvSpPr>
        <p:spPr>
          <a:xfrm>
            <a:off x="4709160" y="1371600"/>
            <a:ext cx="3977640" cy="2103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viewer code text"/>
          <p:cNvSpPr txBox="1"/>
          <p:nvPr/>
        </p:nvSpPr>
        <p:spPr>
          <a:xfrm>
            <a:off x="4846320" y="1481328"/>
            <a:ext cx="37033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viewer: {cmd: dve, opts: -full64}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slurm: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enable: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mode: interactive  # srun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gui: true          # --x11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timeout: 4h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mem: 16G</a:t>
            </a:r>
            <a:endParaRPr lang="en-US" sz="1100" dirty="0"/>
          </a:p>
        </p:txBody>
      </p:sp>
      <p:sp>
        <p:nvSpPr>
          <p:cNvPr id="19" name="viewer notes"/>
          <p:cNvSpPr txBox="1"/>
          <p:nvPr/>
        </p:nvSpPr>
        <p:spPr>
          <a:xfrm>
            <a:off x="4709160" y="36576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Per session: --slurm-mem=48G --slurm-timeout=8h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--slurm-opt adds any option; --local skips Slurm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Debugging and tips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Checklist, common errors, YAML and Jinja</a:t>
            </a:r>
            <a:endParaRPr lang="en-US" sz="18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548640" y="914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05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Debug checklist</a:t>
            </a:r>
            <a:endParaRPr lang="en-US" sz="3000" dirty="0"/>
          </a:p>
        </p:txBody>
      </p:sp>
      <p:sp>
        <p:nvSpPr>
          <p:cNvPr id="4" name="check 1 badge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heck 1 badge text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check text 1"/>
          <p:cNvSpPr txBox="1"/>
          <p:nvPr/>
        </p:nvSpPr>
        <p:spPr>
          <a:xfrm>
            <a:off x="1097280" y="1170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--list and --dry-run: what the flow sees</a:t>
            </a:r>
            <a:endParaRPr lang="en-US" sz="1400" dirty="0"/>
          </a:p>
        </p:txBody>
      </p:sp>
      <p:sp>
        <p:nvSpPr>
          <p:cNvPr id="7" name="check 2 badge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heck 2 badge text"/>
          <p:cNvSpPr txBox="1"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check text 2"/>
          <p:cNvSpPr txBox="1"/>
          <p:nvPr/>
        </p:nvSpPr>
        <p:spPr>
          <a:xfrm>
            <a:off x="1097280" y="1947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the job directory in the output</a:t>
            </a:r>
            <a:endParaRPr lang="en-US" sz="1400" dirty="0"/>
          </a:p>
        </p:txBody>
      </p:sp>
      <p:sp>
        <p:nvSpPr>
          <p:cNvPr id="10" name="check 3 badge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heck 3 badge text"/>
          <p:cNvSpPr txBox="1"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check text 3"/>
          <p:cNvSpPr txBox="1"/>
          <p:nvPr/>
        </p:nvSpPr>
        <p:spPr>
          <a:xfrm>
            <a:off x="1097280" y="27249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 dv_flow.status: failing step and reason</a:t>
            </a:r>
            <a:endParaRPr lang="en-US" sz="1400" dirty="0"/>
          </a:p>
        </p:txBody>
      </p:sp>
      <p:sp>
        <p:nvSpPr>
          <p:cNvPr id="13" name="check 4 badge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heck 4 badge text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check text 4"/>
          <p:cNvSpPr txBox="1"/>
          <p:nvPr/>
        </p:nvSpPr>
        <p:spPr>
          <a:xfrm>
            <a:off x="1097280" y="3502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&lt;phase&gt;.&lt;step&gt;.log and sim.log</a:t>
            </a:r>
            <a:endParaRPr lang="en-US" sz="1400" dirty="0"/>
          </a:p>
        </p:txBody>
      </p:sp>
      <p:sp>
        <p:nvSpPr>
          <p:cNvPr id="16" name="check 5 badge"/>
          <p:cNvSpPr/>
          <p:nvPr/>
        </p:nvSpPr>
        <p:spPr>
          <a:xfrm>
            <a:off x="4709160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heck 5 badge text"/>
          <p:cNvSpPr txBox="1"/>
          <p:nvPr/>
        </p:nvSpPr>
        <p:spPr>
          <a:xfrm>
            <a:off x="47091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check text 5"/>
          <p:cNvSpPr txBox="1"/>
          <p:nvPr/>
        </p:nvSpPr>
        <p:spPr>
          <a:xfrm>
            <a:off x="5349240" y="1170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bash sim.phase.cmd: re-run one step</a:t>
            </a:r>
            <a:endParaRPr lang="en-US" sz="1400" dirty="0"/>
          </a:p>
        </p:txBody>
      </p:sp>
      <p:sp>
        <p:nvSpPr>
          <p:cNvPr id="19" name="check 6 badge"/>
          <p:cNvSpPr/>
          <p:nvPr/>
        </p:nvSpPr>
        <p:spPr>
          <a:xfrm>
            <a:off x="470916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heck 6 badge text"/>
          <p:cNvSpPr txBox="1"/>
          <p:nvPr/>
        </p:nvSpPr>
        <p:spPr>
          <a:xfrm>
            <a:off x="47091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check text 6"/>
          <p:cNvSpPr txBox="1"/>
          <p:nvPr/>
        </p:nvSpPr>
        <p:spPr>
          <a:xfrm>
            <a:off x="5349240" y="1947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bash run.sh: re-run the whole job</a:t>
            </a:r>
            <a:endParaRPr lang="en-US" sz="1400" dirty="0"/>
          </a:p>
        </p:txBody>
      </p:sp>
      <p:sp>
        <p:nvSpPr>
          <p:cNvPr id="22" name="check 7 badge"/>
          <p:cNvSpPr/>
          <p:nvPr/>
        </p:nvSpPr>
        <p:spPr>
          <a:xfrm>
            <a:off x="4709160" y="2651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check 7 badge text"/>
          <p:cNvSpPr txBox="1"/>
          <p:nvPr/>
        </p:nvSpPr>
        <p:spPr>
          <a:xfrm>
            <a:off x="47091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check text 7"/>
          <p:cNvSpPr txBox="1"/>
          <p:nvPr/>
        </p:nvSpPr>
        <p:spPr>
          <a:xfrm>
            <a:off x="5349240" y="27249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Slurm: slurm_&lt;id&gt;.log, sacct, scontrol</a:t>
            </a:r>
            <a:endParaRPr lang="en-US" sz="1400" dirty="0"/>
          </a:p>
        </p:txBody>
      </p:sp>
      <p:sp>
        <p:nvSpPr>
          <p:cNvPr id="25" name="debug code"/>
          <p:cNvSpPr/>
          <p:nvPr/>
        </p:nvSpPr>
        <p:spPr>
          <a:xfrm>
            <a:off x="4709160" y="3566160"/>
            <a:ext cx="3977640" cy="105156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debug code text"/>
          <p:cNvSpPr txBox="1"/>
          <p:nvPr/>
        </p:nvSpPr>
        <p:spPr>
          <a:xfrm>
            <a:off x="4846320" y="3675888"/>
            <a:ext cx="3703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out/dut_a/tests/smoke.1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dv_flow.status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sim.phase.cmd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Common errors and fixes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'x' is undefined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Spelling; define it in variables: or use | default(...)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YAML error after jinja rendering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Quote values with ': ' or ' #'; check indentation and tabs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matches no testcase or section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--model=... --list; quote globs: "rand_*"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phase(s) sim need a test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--testcase=...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SUBMIT FAILED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Read Slurm's message: partition, time limit, memory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required pattern ... not found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Sim crashed or was killed: read the end of sim.log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./simv: not found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Build first, with the same simv_dir / simv_name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Writing YAML that works</a:t>
            </a:r>
            <a:endParaRPr lang="en-US" sz="3000" dirty="0"/>
          </a:p>
        </p:txBody>
      </p:sp>
      <p:sp>
        <p:nvSpPr>
          <p:cNvPr id="4" name="yaml do card"/>
          <p:cNvSpPr/>
          <p:nvPr/>
        </p:nvSpPr>
        <p:spPr>
          <a:xfrm>
            <a:off x="45720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yaml do title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Do</a:t>
            </a:r>
            <a:endParaRPr lang="en-US" sz="1800" dirty="0"/>
          </a:p>
        </p:txBody>
      </p:sp>
      <p:sp>
        <p:nvSpPr>
          <p:cNvPr id="6" name="yaml do list"/>
          <p:cNvSpPr txBox="1"/>
          <p:nvPr/>
        </p:nvSpPr>
        <p:spPr>
          <a:xfrm>
            <a:off x="640080" y="16459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Indent with 2 spaces, never tabs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Quote values with ': ' or ' #'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Quote values starting with { [ * &amp; ! % @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Single quotes for regexes: '^\s*UVM'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Quote yes / no / 1.10 to keep strings</a:t>
            </a:r>
            <a:endParaRPr lang="en-US" sz="1300" dirty="0"/>
          </a:p>
        </p:txBody>
      </p:sp>
      <p:sp>
        <p:nvSpPr>
          <p:cNvPr id="7" name="yaml dont card"/>
          <p:cNvSpPr/>
          <p:nvPr/>
        </p:nvSpPr>
        <p:spPr>
          <a:xfrm>
            <a:off x="470916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yaml dont title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Don't</a:t>
            </a:r>
            <a:endParaRPr lang="en-US" sz="1800" dirty="0"/>
          </a:p>
        </p:txBody>
      </p:sp>
      <p:sp>
        <p:nvSpPr>
          <p:cNvPr id="9" name="yaml dont code"/>
          <p:cNvSpPr/>
          <p:nvPr/>
        </p:nvSpPr>
        <p:spPr>
          <a:xfrm>
            <a:off x="4892040" y="1645920"/>
            <a:ext cx="3611880" cy="2788920"/>
          </a:xfrm>
          <a:prstGeom prst="roundRect">
            <a:avLst>
              <a:gd name="adj" fmla="val 19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yaml dont code text"/>
          <p:cNvSpPr txBox="1"/>
          <p:nvPr/>
        </p:nvSpPr>
        <p:spPr>
          <a:xfrm>
            <a:off x="5029200" y="1755648"/>
            <a:ext cx="333756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: inside a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args: -l sim.log # 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 ] inside {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pre: {cmd: echo [pre]}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becomes 1.1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1.10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becomes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no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Writing Jinja that works</a:t>
            </a:r>
            <a:endParaRPr lang="en-US" sz="3000" dirty="0"/>
          </a:p>
        </p:txBody>
      </p:sp>
      <p:sp>
        <p:nvSpPr>
          <p:cNvPr id="4" name="jinja code"/>
          <p:cNvSpPr/>
          <p:nvPr/>
        </p:nvSpPr>
        <p:spPr>
          <a:xfrm>
            <a:off x="457200" y="1097280"/>
            <a:ext cx="4754880" cy="3520440"/>
          </a:xfrm>
          <a:prstGeom prst="roundRect">
            <a:avLst>
              <a:gd name="adj" fmla="val 155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jinja code text"/>
          <p:cNvSpPr txBox="1"/>
          <p:nvPr/>
        </p:nvSpPr>
        <p:spPr>
          <a:xfrm>
            <a:off x="594360" y="1207008"/>
            <a:ext cx="44805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for a missing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test.verbosity | default(verbosity) }}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inline condition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'-gui=' ~ debug_tool if gui else '' }}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to generate tests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k in ['read', 'write'] %}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testcase: rand_{{ k }}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endfor %}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{{ seed }} for job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raw %}{{ seed }}{% endraw %}</a:t>
            </a:r>
            <a:endParaRPr lang="en-US" sz="1100" dirty="0"/>
          </a:p>
        </p:txBody>
      </p:sp>
      <p:sp>
        <p:nvSpPr>
          <p:cNvPr id="6" name="jinja tips"/>
          <p:cNvSpPr txBox="1"/>
          <p:nvPr/>
        </p:nvSpPr>
        <p:spPr>
          <a:xfrm>
            <a:off x="5486400" y="11430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Quote YAML values that start with {{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Put {% %} tags on their own 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Indent the YAML, not the tags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{% set %} in a master is not visible: use variables: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Check results with --dry-run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Hands-on exercises</a:t>
            </a:r>
            <a:endParaRPr lang="en-US" sz="3000" dirty="0"/>
          </a:p>
        </p:txBody>
      </p:sp>
      <p:sp>
        <p:nvSpPr>
          <p:cNvPr id="4" name="lab 1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lab 1 badge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lab 1 badge text"/>
          <p:cNvSpPr txBox="1"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lab title 1"/>
          <p:cNvSpPr txBox="1"/>
          <p:nvPr/>
        </p:nvSpPr>
        <p:spPr>
          <a:xfrm>
            <a:off x="1188720" y="1316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List and preview</a:t>
            </a:r>
            <a:endParaRPr lang="en-US" sz="1500" dirty="0"/>
          </a:p>
        </p:txBody>
      </p:sp>
      <p:sp>
        <p:nvSpPr>
          <p:cNvPr id="8" name="lab text 1"/>
          <p:cNvSpPr txBox="1"/>
          <p:nvPr/>
        </p:nvSpPr>
        <p:spPr>
          <a:xfrm>
            <a:off x="64008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--list, then --dry-run the demo smoke test</a:t>
            </a:r>
            <a:endParaRPr lang="en-US" sz="1200" dirty="0"/>
          </a:p>
        </p:txBody>
      </p:sp>
      <p:sp>
        <p:nvSpPr>
          <p:cNvPr id="9" name="lab 2"/>
          <p:cNvSpPr/>
          <p:nvPr/>
        </p:nvSpPr>
        <p:spPr>
          <a:xfrm>
            <a:off x="329184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lab 2 badge"/>
          <p:cNvSpPr/>
          <p:nvPr/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lab 2 badge text"/>
          <p:cNvSpPr txBox="1"/>
          <p:nvPr/>
        </p:nvSpPr>
        <p:spPr>
          <a:xfrm>
            <a:off x="34747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lab title 2"/>
          <p:cNvSpPr txBox="1"/>
          <p:nvPr/>
        </p:nvSpPr>
        <p:spPr>
          <a:xfrm>
            <a:off x="4023360" y="1316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 and inspect</a:t>
            </a:r>
            <a:endParaRPr lang="en-US" sz="1500" dirty="0"/>
          </a:p>
        </p:txBody>
      </p:sp>
      <p:sp>
        <p:nvSpPr>
          <p:cNvPr id="13" name="lab text 2"/>
          <p:cNvSpPr txBox="1"/>
          <p:nvPr/>
        </p:nvSpPr>
        <p:spPr>
          <a:xfrm>
            <a:off x="347472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demo; open run.sh, .cmd, dv_flow.status</a:t>
            </a:r>
            <a:endParaRPr lang="en-US" sz="1200" dirty="0"/>
          </a:p>
        </p:txBody>
      </p:sp>
      <p:sp>
        <p:nvSpPr>
          <p:cNvPr id="14" name="lab 3"/>
          <p:cNvSpPr/>
          <p:nvPr/>
        </p:nvSpPr>
        <p:spPr>
          <a:xfrm>
            <a:off x="612648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lab 3 badge"/>
          <p:cNvSpPr/>
          <p:nvPr/>
        </p:nvSpPr>
        <p:spPr>
          <a:xfrm>
            <a:off x="630936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lab 3 badge text"/>
          <p:cNvSpPr txBox="1"/>
          <p:nvPr/>
        </p:nvSpPr>
        <p:spPr>
          <a:xfrm>
            <a:off x="63093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lab title 3"/>
          <p:cNvSpPr txBox="1"/>
          <p:nvPr/>
        </p:nvSpPr>
        <p:spPr>
          <a:xfrm>
            <a:off x="6858000" y="13167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Break a test</a:t>
            </a:r>
            <a:endParaRPr lang="en-US" sz="1500" dirty="0"/>
          </a:p>
        </p:txBody>
      </p:sp>
      <p:sp>
        <p:nvSpPr>
          <p:cNvPr id="18" name="lab text 3"/>
          <p:cNvSpPr txBox="1"/>
          <p:nvPr/>
        </p:nvSpPr>
        <p:spPr>
          <a:xfrm>
            <a:off x="6309360" y="1828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-a "sim+=UVM_ERROR : 2"; read test_status.yml</a:t>
            </a:r>
            <a:endParaRPr lang="en-US" sz="1200" dirty="0"/>
          </a:p>
        </p:txBody>
      </p:sp>
      <p:sp>
        <p:nvSpPr>
          <p:cNvPr id="19" name="lab 4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lab 4 badge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lab 4 badge text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lab title 4"/>
          <p:cNvSpPr txBox="1"/>
          <p:nvPr/>
        </p:nvSpPr>
        <p:spPr>
          <a:xfrm>
            <a:off x="1188720" y="30998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Add a testcase</a:t>
            </a:r>
            <a:endParaRPr lang="en-US" sz="1500" dirty="0"/>
          </a:p>
        </p:txBody>
      </p:sp>
      <p:sp>
        <p:nvSpPr>
          <p:cNvPr id="23" name="lab text 4"/>
          <p:cNvSpPr txBox="1"/>
          <p:nvPr/>
        </p:nvSpPr>
        <p:spPr>
          <a:xfrm>
            <a:off x="64008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New demo testcase with its own phase_args</a:t>
            </a:r>
            <a:endParaRPr lang="en-US" sz="1200" dirty="0"/>
          </a:p>
        </p:txBody>
      </p:sp>
      <p:sp>
        <p:nvSpPr>
          <p:cNvPr id="24" name="lab 5"/>
          <p:cNvSpPr/>
          <p:nvPr/>
        </p:nvSpPr>
        <p:spPr>
          <a:xfrm>
            <a:off x="329184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lab 5 badge"/>
          <p:cNvSpPr/>
          <p:nvPr/>
        </p:nvSpPr>
        <p:spPr>
          <a:xfrm>
            <a:off x="3474720" y="30632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lab 5 badge text"/>
          <p:cNvSpPr txBox="1"/>
          <p:nvPr/>
        </p:nvSpPr>
        <p:spPr>
          <a:xfrm>
            <a:off x="3474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lab title 5"/>
          <p:cNvSpPr txBox="1"/>
          <p:nvPr/>
        </p:nvSpPr>
        <p:spPr>
          <a:xfrm>
            <a:off x="4023360" y="30998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Submit to Slurm</a:t>
            </a:r>
            <a:endParaRPr lang="en-US" sz="1500" dirty="0"/>
          </a:p>
        </p:txBody>
      </p:sp>
      <p:sp>
        <p:nvSpPr>
          <p:cNvPr id="28" name="lab text 5"/>
          <p:cNvSpPr txBox="1"/>
          <p:nvPr/>
        </p:nvSpPr>
        <p:spPr>
          <a:xfrm>
            <a:off x="347472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--slurm --wait; then --track</a:t>
            </a:r>
            <a:endParaRPr lang="en-US" sz="1200" dirty="0"/>
          </a:p>
        </p:txBody>
      </p:sp>
      <p:sp>
        <p:nvSpPr>
          <p:cNvPr id="29" name="lab 6"/>
          <p:cNvSpPr/>
          <p:nvPr/>
        </p:nvSpPr>
        <p:spPr>
          <a:xfrm>
            <a:off x="612648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lab 6 badge"/>
          <p:cNvSpPr/>
          <p:nvPr/>
        </p:nvSpPr>
        <p:spPr>
          <a:xfrm>
            <a:off x="6309360" y="30632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lab 6 badge text"/>
          <p:cNvSpPr txBox="1"/>
          <p:nvPr/>
        </p:nvSpPr>
        <p:spPr>
          <a:xfrm>
            <a:off x="63093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lab title 6"/>
          <p:cNvSpPr txBox="1"/>
          <p:nvPr/>
        </p:nvSpPr>
        <p:spPr>
          <a:xfrm>
            <a:off x="6858000" y="30998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 limit</a:t>
            </a:r>
            <a:endParaRPr lang="en-US" sz="1500" dirty="0"/>
          </a:p>
        </p:txBody>
      </p:sp>
      <p:sp>
        <p:nvSpPr>
          <p:cNvPr id="33" name="lab text 6"/>
          <p:cNvSpPr txBox="1"/>
          <p:nvPr/>
        </p:nvSpPr>
        <p:spPr>
          <a:xfrm>
            <a:off x="6309360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slurm_timeout: 1m on a long test; see FAIL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Quick reference</a:t>
            </a:r>
            <a:endParaRPr lang="en-US" sz="3600" dirty="0"/>
          </a:p>
        </p:txBody>
      </p:sp>
      <p:sp>
        <p:nvSpPr>
          <p:cNvPr id="4" name="ref title 1"/>
          <p:cNvSpPr txBox="1"/>
          <p:nvPr/>
        </p:nvSpPr>
        <p:spPr>
          <a:xfrm>
            <a:off x="54864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List tests</a:t>
            </a:r>
            <a:endParaRPr lang="en-US" sz="1300" dirty="0"/>
          </a:p>
        </p:txBody>
      </p:sp>
      <p:sp>
        <p:nvSpPr>
          <p:cNvPr id="5" name="ref cmd 1"/>
          <p:cNvSpPr txBox="1"/>
          <p:nvPr/>
        </p:nvSpPr>
        <p:spPr>
          <a:xfrm>
            <a:off x="192024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--list-test   --dry-run</a:t>
            </a:r>
            <a:endParaRPr lang="en-US" sz="1100" dirty="0"/>
          </a:p>
        </p:txBody>
      </p:sp>
      <p:sp>
        <p:nvSpPr>
          <p:cNvPr id="6" name="ref title 2"/>
          <p:cNvSpPr txBox="1"/>
          <p:nvPr/>
        </p:nvSpPr>
        <p:spPr>
          <a:xfrm>
            <a:off x="466344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One test</a:t>
            </a:r>
            <a:endParaRPr lang="en-US" sz="1300" dirty="0"/>
          </a:p>
        </p:txBody>
      </p:sp>
      <p:sp>
        <p:nvSpPr>
          <p:cNvPr id="7" name="ref cmd 2"/>
          <p:cNvSpPr txBox="1"/>
          <p:nvPr/>
        </p:nvSpPr>
        <p:spPr>
          <a:xfrm>
            <a:off x="603504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--model=dut_a --testcase=smoke</a:t>
            </a:r>
            <a:endParaRPr lang="en-US" sz="1100" dirty="0"/>
          </a:p>
        </p:txBody>
      </p:sp>
      <p:sp>
        <p:nvSpPr>
          <p:cNvPr id="8" name="ref title 3"/>
          <p:cNvSpPr txBox="1"/>
          <p:nvPr/>
        </p:nvSpPr>
        <p:spPr>
          <a:xfrm>
            <a:off x="54864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Sim only</a:t>
            </a:r>
            <a:endParaRPr lang="en-US" sz="1300" dirty="0"/>
          </a:p>
        </p:txBody>
      </p:sp>
      <p:sp>
        <p:nvSpPr>
          <p:cNvPr id="9" name="ref cmd 3"/>
          <p:cNvSpPr txBox="1"/>
          <p:nvPr/>
        </p:nvSpPr>
        <p:spPr>
          <a:xfrm>
            <a:off x="192024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--phase=sim --testcase=smoke</a:t>
            </a:r>
            <a:endParaRPr lang="en-US" sz="1100" dirty="0"/>
          </a:p>
        </p:txBody>
      </p:sp>
      <p:sp>
        <p:nvSpPr>
          <p:cNvPr id="10" name="ref title 4"/>
          <p:cNvSpPr txBox="1"/>
          <p:nvPr/>
        </p:nvSpPr>
        <p:spPr>
          <a:xfrm>
            <a:off x="466344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Extra args</a:t>
            </a:r>
            <a:endParaRPr lang="en-US" sz="1300" dirty="0"/>
          </a:p>
        </p:txBody>
      </p:sp>
      <p:sp>
        <p:nvSpPr>
          <p:cNvPr id="11" name="ref cmd 4"/>
          <p:cNvSpPr txBox="1"/>
          <p:nvPr/>
        </p:nvSpPr>
        <p:spPr>
          <a:xfrm>
            <a:off x="603504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 "sim+=+my_arg=1"</a:t>
            </a:r>
            <a:endParaRPr lang="en-US" sz="1100" dirty="0"/>
          </a:p>
        </p:txBody>
      </p:sp>
      <p:sp>
        <p:nvSpPr>
          <p:cNvPr id="12" name="ref title 5"/>
          <p:cNvSpPr txBox="1"/>
          <p:nvPr/>
        </p:nvSpPr>
        <p:spPr>
          <a:xfrm>
            <a:off x="54864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Memory</a:t>
            </a:r>
            <a:endParaRPr lang="en-US" sz="1300" dirty="0"/>
          </a:p>
        </p:txBody>
      </p:sp>
      <p:sp>
        <p:nvSpPr>
          <p:cNvPr id="13" name="ref cmd 5"/>
          <p:cNvSpPr txBox="1"/>
          <p:nvPr/>
        </p:nvSpPr>
        <p:spPr>
          <a:xfrm>
            <a:off x="192024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--slurm-mem=32G</a:t>
            </a:r>
            <a:endParaRPr lang="en-US" sz="1100" dirty="0"/>
          </a:p>
        </p:txBody>
      </p:sp>
      <p:sp>
        <p:nvSpPr>
          <p:cNvPr id="14" name="ref title 6"/>
          <p:cNvSpPr txBox="1"/>
          <p:nvPr/>
        </p:nvSpPr>
        <p:spPr>
          <a:xfrm>
            <a:off x="466344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Slurm + wait</a:t>
            </a:r>
            <a:endParaRPr lang="en-US" sz="1300" dirty="0"/>
          </a:p>
        </p:txBody>
      </p:sp>
      <p:sp>
        <p:nvSpPr>
          <p:cNvPr id="15" name="ref cmd 6"/>
          <p:cNvSpPr txBox="1"/>
          <p:nvPr/>
        </p:nvSpPr>
        <p:spPr>
          <a:xfrm>
            <a:off x="603504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--slurm --wait</a:t>
            </a:r>
            <a:endParaRPr lang="en-US" sz="1100" dirty="0"/>
          </a:p>
        </p:txBody>
      </p:sp>
      <p:sp>
        <p:nvSpPr>
          <p:cNvPr id="16" name="ref title 7"/>
          <p:cNvSpPr txBox="1"/>
          <p:nvPr/>
        </p:nvSpPr>
        <p:spPr>
          <a:xfrm>
            <a:off x="54864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Open waves</a:t>
            </a:r>
            <a:endParaRPr lang="en-US" sz="1300" dirty="0"/>
          </a:p>
        </p:txBody>
      </p:sp>
      <p:sp>
        <p:nvSpPr>
          <p:cNvPr id="17" name="ref cmd 7"/>
          <p:cNvSpPr txBox="1"/>
          <p:nvPr/>
        </p:nvSpPr>
        <p:spPr>
          <a:xfrm>
            <a:off x="1920240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--testcase=smoke --open-waves</a:t>
            </a:r>
            <a:endParaRPr lang="en-US" sz="1100" dirty="0"/>
          </a:p>
        </p:txBody>
      </p:sp>
      <p:sp>
        <p:nvSpPr>
          <p:cNvPr id="18" name="ref title 8"/>
          <p:cNvSpPr txBox="1"/>
          <p:nvPr/>
        </p:nvSpPr>
        <p:spPr>
          <a:xfrm>
            <a:off x="466344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Status</a:t>
            </a:r>
            <a:endParaRPr lang="en-US" sz="1300" dirty="0"/>
          </a:p>
        </p:txBody>
      </p:sp>
      <p:sp>
        <p:nvSpPr>
          <p:cNvPr id="19" name="ref cmd 8"/>
          <p:cNvSpPr txBox="1"/>
          <p:nvPr/>
        </p:nvSpPr>
        <p:spPr>
          <a:xfrm>
            <a:off x="6035040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--track [--wait]</a:t>
            </a:r>
            <a:endParaRPr lang="en-US" sz="11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v_flow">
  <a:themeElements>
    <a:clrScheme name="dv_flow">
      <a:dk1>
        <a:srgbClr val="1B2430"/>
      </a:dk1>
      <a:lt1>
        <a:srgbClr val="FFFFFF"/>
      </a:lt1>
      <a:dk2>
        <a:srgbClr val="0B2A3C"/>
      </a:dk2>
      <a:lt2>
        <a:srgbClr val="EEF3F6"/>
      </a:lt2>
      <a:accent1>
        <a:srgbClr val="0E8C8A"/>
      </a:accent1>
      <a:accent2>
        <a:srgbClr val="F2A541"/>
      </a:accent2>
      <a:accent3>
        <a:srgbClr val="2F6690"/>
      </a:accent3>
      <a:accent4>
        <a:srgbClr val="D1495B"/>
      </a:accent4>
      <a:accent5>
        <a:srgbClr val="6A994E"/>
      </a:accent5>
      <a:accent6>
        <a:srgbClr val="5C6B73"/>
      </a:accent6>
      <a:hlink>
        <a:srgbClr val="2F6690"/>
      </a:hlink>
      <a:folHlink>
        <a:srgbClr val="5C6B73"/>
      </a:folHlink>
    </a:clrScheme>
    <a:fontScheme name="dv_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dv_flow training</dc:title>
  <dc:subject>PptxGenJS Presentation</dc:subject>
  <dc:creator>dv_flow</dc:creator>
  <cp:lastModifiedBy>dv_flow</cp:lastModifiedBy>
  <cp:revision>1</cp:revision>
  <dcterms:created xsi:type="dcterms:W3CDTF">2026-10-12T13:25:16Z</dcterms:created>
  <dcterms:modified xsi:type="dcterms:W3CDTF">2026-10-12T13:25:16Z</dcterms:modified>
</cp:coreProperties>
</file>